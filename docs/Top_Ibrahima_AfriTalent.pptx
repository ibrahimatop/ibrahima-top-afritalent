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7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66" d="100"/>
          <a:sy n="66" d="100"/>
        </p:scale>
        <p:origin x="1506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59290209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00B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Text 55"/>
          <p:cNvSpPr/>
          <p:nvPr/>
        </p:nvSpPr>
        <p:spPr>
          <a:xfrm>
            <a:off x="4023360" y="2743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600" dirty="0"/>
          </a:p>
        </p:txBody>
      </p:sp>
      <p:sp>
        <p:nvSpPr>
          <p:cNvPr id="59" name="Text 57"/>
          <p:cNvSpPr/>
          <p:nvPr/>
        </p:nvSpPr>
        <p:spPr>
          <a:xfrm>
            <a:off x="5029200" y="868680"/>
            <a:ext cx="3657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300" dirty="0"/>
          </a:p>
        </p:txBody>
      </p:sp>
      <p:sp>
        <p:nvSpPr>
          <p:cNvPr id="63" name="Text 60"/>
          <p:cNvSpPr/>
          <p:nvPr/>
        </p:nvSpPr>
        <p:spPr>
          <a:xfrm>
            <a:off x="274320" y="482803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000" dirty="0"/>
          </a:p>
        </p:txBody>
      </p:sp>
      <p:pic>
        <p:nvPicPr>
          <p:cNvPr id="65" name="Image 64">
            <a:extLst>
              <a:ext uri="{FF2B5EF4-FFF2-40B4-BE49-F238E27FC236}">
                <a16:creationId xmlns:a16="http://schemas.microsoft.com/office/drawing/2014/main" id="{2B85D90A-41E8-68ED-2268-AA14B36728E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02351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20040" y="228600"/>
            <a:ext cx="502920" cy="502920"/>
          </a:xfrm>
          <a:prstGeom prst="ellipse">
            <a:avLst/>
          </a:prstGeom>
          <a:solidFill>
            <a:srgbClr val="241D6B"/>
          </a:solidFill>
          <a:ln/>
        </p:spPr>
        <p:txBody>
          <a:bodyPr/>
          <a:lstStyle/>
          <a:p>
            <a:endParaRPr lang="fr-FR" sz="1600"/>
          </a:p>
        </p:txBody>
      </p:sp>
      <p:sp>
        <p:nvSpPr>
          <p:cNvPr id="3" name="Text 1"/>
          <p:cNvSpPr/>
          <p:nvPr/>
        </p:nvSpPr>
        <p:spPr>
          <a:xfrm>
            <a:off x="320040" y="2286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2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960120" y="228600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00B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Sommaire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457200" y="1005840"/>
            <a:ext cx="3931920" cy="502920"/>
          </a:xfrm>
          <a:prstGeom prst="roundRect">
            <a:avLst>
              <a:gd name="adj" fmla="val 14545"/>
            </a:avLst>
          </a:prstGeom>
          <a:solidFill>
            <a:srgbClr val="EEF2FC"/>
          </a:solidFill>
          <a:ln/>
          <a:effectLst>
            <a:outerShdw blurRad="50800" dist="12700" dir="27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fr-FR" sz="1600"/>
          </a:p>
        </p:txBody>
      </p:sp>
      <p:sp>
        <p:nvSpPr>
          <p:cNvPr id="6" name="Shape 4"/>
          <p:cNvSpPr/>
          <p:nvPr/>
        </p:nvSpPr>
        <p:spPr>
          <a:xfrm>
            <a:off x="548640" y="1078992"/>
            <a:ext cx="347472" cy="347472"/>
          </a:xfrm>
          <a:prstGeom prst="ellipse">
            <a:avLst/>
          </a:prstGeom>
          <a:solidFill>
            <a:srgbClr val="241D6B"/>
          </a:solidFill>
          <a:ln/>
        </p:spPr>
        <p:txBody>
          <a:bodyPr/>
          <a:lstStyle/>
          <a:p>
            <a:endParaRPr lang="fr-FR" sz="1600"/>
          </a:p>
        </p:txBody>
      </p:sp>
      <p:sp>
        <p:nvSpPr>
          <p:cNvPr id="7" name="Text 5"/>
          <p:cNvSpPr/>
          <p:nvPr/>
        </p:nvSpPr>
        <p:spPr>
          <a:xfrm>
            <a:off x="548640" y="107899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01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987552" y="1097280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A15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Présentation du projet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457200" y="1691640"/>
            <a:ext cx="3931920" cy="502920"/>
          </a:xfrm>
          <a:prstGeom prst="roundRect">
            <a:avLst>
              <a:gd name="adj" fmla="val 14545"/>
            </a:avLst>
          </a:prstGeom>
          <a:solidFill>
            <a:srgbClr val="F5F7FF"/>
          </a:solidFill>
          <a:ln/>
          <a:effectLst>
            <a:outerShdw blurRad="50800" dist="12700" dir="27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fr-FR" sz="1600"/>
          </a:p>
        </p:txBody>
      </p:sp>
      <p:sp>
        <p:nvSpPr>
          <p:cNvPr id="10" name="Shape 8"/>
          <p:cNvSpPr/>
          <p:nvPr/>
        </p:nvSpPr>
        <p:spPr>
          <a:xfrm>
            <a:off x="548640" y="1764792"/>
            <a:ext cx="347472" cy="347472"/>
          </a:xfrm>
          <a:prstGeom prst="ellipse">
            <a:avLst/>
          </a:prstGeom>
          <a:solidFill>
            <a:srgbClr val="241D6B"/>
          </a:solidFill>
          <a:ln/>
        </p:spPr>
        <p:txBody>
          <a:bodyPr/>
          <a:lstStyle/>
          <a:p>
            <a:endParaRPr lang="fr-FR" sz="1600"/>
          </a:p>
        </p:txBody>
      </p:sp>
      <p:sp>
        <p:nvSpPr>
          <p:cNvPr id="11" name="Text 9"/>
          <p:cNvSpPr/>
          <p:nvPr/>
        </p:nvSpPr>
        <p:spPr>
          <a:xfrm>
            <a:off x="548640" y="176479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02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987552" y="1783080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A15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Choix de design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457200" y="2377440"/>
            <a:ext cx="3931920" cy="502920"/>
          </a:xfrm>
          <a:prstGeom prst="roundRect">
            <a:avLst>
              <a:gd name="adj" fmla="val 14545"/>
            </a:avLst>
          </a:prstGeom>
          <a:solidFill>
            <a:srgbClr val="EEF2FC"/>
          </a:solidFill>
          <a:ln/>
          <a:effectLst>
            <a:outerShdw blurRad="50800" dist="12700" dir="27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fr-FR" sz="1600"/>
          </a:p>
        </p:txBody>
      </p:sp>
      <p:sp>
        <p:nvSpPr>
          <p:cNvPr id="14" name="Shape 12"/>
          <p:cNvSpPr/>
          <p:nvPr/>
        </p:nvSpPr>
        <p:spPr>
          <a:xfrm>
            <a:off x="548640" y="2450592"/>
            <a:ext cx="347472" cy="347472"/>
          </a:xfrm>
          <a:prstGeom prst="ellipse">
            <a:avLst/>
          </a:prstGeom>
          <a:solidFill>
            <a:srgbClr val="241D6B"/>
          </a:solidFill>
          <a:ln/>
        </p:spPr>
        <p:txBody>
          <a:bodyPr/>
          <a:lstStyle/>
          <a:p>
            <a:endParaRPr lang="fr-FR" sz="1600"/>
          </a:p>
        </p:txBody>
      </p:sp>
      <p:sp>
        <p:nvSpPr>
          <p:cNvPr id="15" name="Text 13"/>
          <p:cNvSpPr/>
          <p:nvPr/>
        </p:nvSpPr>
        <p:spPr>
          <a:xfrm>
            <a:off x="548640" y="245059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03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987552" y="2468880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A15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 du site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457200" y="3063240"/>
            <a:ext cx="3931920" cy="502920"/>
          </a:xfrm>
          <a:prstGeom prst="roundRect">
            <a:avLst>
              <a:gd name="adj" fmla="val 14545"/>
            </a:avLst>
          </a:prstGeom>
          <a:solidFill>
            <a:srgbClr val="F5F7FF"/>
          </a:solidFill>
          <a:ln/>
          <a:effectLst>
            <a:outerShdw blurRad="50800" dist="12700" dir="27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fr-FR" sz="1600"/>
          </a:p>
        </p:txBody>
      </p:sp>
      <p:sp>
        <p:nvSpPr>
          <p:cNvPr id="18" name="Shape 16"/>
          <p:cNvSpPr/>
          <p:nvPr/>
        </p:nvSpPr>
        <p:spPr>
          <a:xfrm>
            <a:off x="548640" y="3136392"/>
            <a:ext cx="347472" cy="347472"/>
          </a:xfrm>
          <a:prstGeom prst="ellipse">
            <a:avLst/>
          </a:prstGeom>
          <a:solidFill>
            <a:srgbClr val="241D6B"/>
          </a:solidFill>
          <a:ln/>
        </p:spPr>
        <p:txBody>
          <a:bodyPr/>
          <a:lstStyle/>
          <a:p>
            <a:endParaRPr lang="fr-FR" sz="1600"/>
          </a:p>
        </p:txBody>
      </p:sp>
      <p:sp>
        <p:nvSpPr>
          <p:cNvPr id="19" name="Text 17"/>
          <p:cNvSpPr/>
          <p:nvPr/>
        </p:nvSpPr>
        <p:spPr>
          <a:xfrm>
            <a:off x="548640" y="313639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04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987552" y="3154680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A15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Points techniques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457200" y="3749040"/>
            <a:ext cx="3931920" cy="502920"/>
          </a:xfrm>
          <a:prstGeom prst="roundRect">
            <a:avLst>
              <a:gd name="adj" fmla="val 14545"/>
            </a:avLst>
          </a:prstGeom>
          <a:solidFill>
            <a:srgbClr val="EEF2FC"/>
          </a:solidFill>
          <a:ln/>
          <a:effectLst>
            <a:outerShdw blurRad="50800" dist="12700" dir="27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fr-FR" sz="1600"/>
          </a:p>
        </p:txBody>
      </p:sp>
      <p:sp>
        <p:nvSpPr>
          <p:cNvPr id="22" name="Shape 20"/>
          <p:cNvSpPr/>
          <p:nvPr/>
        </p:nvSpPr>
        <p:spPr>
          <a:xfrm>
            <a:off x="548640" y="3822192"/>
            <a:ext cx="347472" cy="347472"/>
          </a:xfrm>
          <a:prstGeom prst="ellipse">
            <a:avLst/>
          </a:prstGeom>
          <a:solidFill>
            <a:srgbClr val="241D6B"/>
          </a:solidFill>
          <a:ln/>
        </p:spPr>
        <p:txBody>
          <a:bodyPr/>
          <a:lstStyle/>
          <a:p>
            <a:endParaRPr lang="fr-FR" sz="1600"/>
          </a:p>
        </p:txBody>
      </p:sp>
      <p:sp>
        <p:nvSpPr>
          <p:cNvPr id="23" name="Text 21"/>
          <p:cNvSpPr/>
          <p:nvPr/>
        </p:nvSpPr>
        <p:spPr>
          <a:xfrm>
            <a:off x="548640" y="382219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05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987552" y="3840480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A15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4846320" y="1005840"/>
            <a:ext cx="3931920" cy="502920"/>
          </a:xfrm>
          <a:prstGeom prst="roundRect">
            <a:avLst>
              <a:gd name="adj" fmla="val 14545"/>
            </a:avLst>
          </a:prstGeom>
          <a:solidFill>
            <a:srgbClr val="F5F7FF"/>
          </a:solidFill>
          <a:ln/>
          <a:effectLst>
            <a:outerShdw blurRad="50800" dist="12700" dir="27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fr-FR" sz="1600"/>
          </a:p>
        </p:txBody>
      </p:sp>
      <p:sp>
        <p:nvSpPr>
          <p:cNvPr id="26" name="Shape 24"/>
          <p:cNvSpPr/>
          <p:nvPr/>
        </p:nvSpPr>
        <p:spPr>
          <a:xfrm>
            <a:off x="4937760" y="1078992"/>
            <a:ext cx="347472" cy="347472"/>
          </a:xfrm>
          <a:prstGeom prst="ellipse">
            <a:avLst/>
          </a:prstGeom>
          <a:solidFill>
            <a:srgbClr val="241D6B"/>
          </a:solidFill>
          <a:ln/>
        </p:spPr>
        <p:txBody>
          <a:bodyPr/>
          <a:lstStyle/>
          <a:p>
            <a:endParaRPr lang="fr-FR" sz="1600"/>
          </a:p>
        </p:txBody>
      </p:sp>
      <p:sp>
        <p:nvSpPr>
          <p:cNvPr id="27" name="Text 25"/>
          <p:cNvSpPr/>
          <p:nvPr/>
        </p:nvSpPr>
        <p:spPr>
          <a:xfrm>
            <a:off x="4937760" y="107899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06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5376672" y="1097280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A15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Difficultés rencontrées</a:t>
            </a:r>
            <a:endParaRPr lang="en-US" sz="1600" dirty="0"/>
          </a:p>
        </p:txBody>
      </p:sp>
      <p:sp>
        <p:nvSpPr>
          <p:cNvPr id="29" name="Shape 27"/>
          <p:cNvSpPr/>
          <p:nvPr/>
        </p:nvSpPr>
        <p:spPr>
          <a:xfrm>
            <a:off x="4846320" y="1691640"/>
            <a:ext cx="3931920" cy="502920"/>
          </a:xfrm>
          <a:prstGeom prst="roundRect">
            <a:avLst>
              <a:gd name="adj" fmla="val 14545"/>
            </a:avLst>
          </a:prstGeom>
          <a:solidFill>
            <a:srgbClr val="EEF2FC"/>
          </a:solidFill>
          <a:ln/>
          <a:effectLst>
            <a:outerShdw blurRad="50800" dist="12700" dir="27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fr-FR" sz="1600"/>
          </a:p>
        </p:txBody>
      </p:sp>
      <p:sp>
        <p:nvSpPr>
          <p:cNvPr id="30" name="Shape 28"/>
          <p:cNvSpPr/>
          <p:nvPr/>
        </p:nvSpPr>
        <p:spPr>
          <a:xfrm>
            <a:off x="4937760" y="1764792"/>
            <a:ext cx="347472" cy="347472"/>
          </a:xfrm>
          <a:prstGeom prst="ellipse">
            <a:avLst/>
          </a:prstGeom>
          <a:solidFill>
            <a:srgbClr val="241D6B"/>
          </a:solidFill>
          <a:ln/>
        </p:spPr>
        <p:txBody>
          <a:bodyPr/>
          <a:lstStyle/>
          <a:p>
            <a:endParaRPr lang="fr-FR" sz="1600"/>
          </a:p>
        </p:txBody>
      </p:sp>
      <p:sp>
        <p:nvSpPr>
          <p:cNvPr id="31" name="Text 29"/>
          <p:cNvSpPr/>
          <p:nvPr/>
        </p:nvSpPr>
        <p:spPr>
          <a:xfrm>
            <a:off x="4937760" y="176479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07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5376672" y="1783080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A15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Ressources utilisées</a:t>
            </a:r>
            <a:endParaRPr lang="en-US" sz="1600" dirty="0"/>
          </a:p>
        </p:txBody>
      </p:sp>
      <p:sp>
        <p:nvSpPr>
          <p:cNvPr id="33" name="Shape 31"/>
          <p:cNvSpPr/>
          <p:nvPr/>
        </p:nvSpPr>
        <p:spPr>
          <a:xfrm>
            <a:off x="4846320" y="2377440"/>
            <a:ext cx="3931920" cy="502920"/>
          </a:xfrm>
          <a:prstGeom prst="roundRect">
            <a:avLst>
              <a:gd name="adj" fmla="val 14545"/>
            </a:avLst>
          </a:prstGeom>
          <a:solidFill>
            <a:srgbClr val="F5F7FF"/>
          </a:solidFill>
          <a:ln/>
          <a:effectLst>
            <a:outerShdw blurRad="50800" dist="12700" dir="27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fr-FR" sz="1600"/>
          </a:p>
        </p:txBody>
      </p:sp>
      <p:sp>
        <p:nvSpPr>
          <p:cNvPr id="34" name="Shape 32"/>
          <p:cNvSpPr/>
          <p:nvPr/>
        </p:nvSpPr>
        <p:spPr>
          <a:xfrm>
            <a:off x="4937760" y="2450592"/>
            <a:ext cx="347472" cy="347472"/>
          </a:xfrm>
          <a:prstGeom prst="ellipse">
            <a:avLst/>
          </a:prstGeom>
          <a:solidFill>
            <a:srgbClr val="241D6B"/>
          </a:solidFill>
          <a:ln/>
        </p:spPr>
        <p:txBody>
          <a:bodyPr/>
          <a:lstStyle/>
          <a:p>
            <a:endParaRPr lang="fr-FR" sz="1600"/>
          </a:p>
        </p:txBody>
      </p:sp>
      <p:sp>
        <p:nvSpPr>
          <p:cNvPr id="35" name="Text 33"/>
          <p:cNvSpPr/>
          <p:nvPr/>
        </p:nvSpPr>
        <p:spPr>
          <a:xfrm>
            <a:off x="4937760" y="245059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08</a:t>
            </a:r>
            <a:endParaRPr lang="en-US" sz="1600" dirty="0"/>
          </a:p>
        </p:txBody>
      </p:sp>
      <p:sp>
        <p:nvSpPr>
          <p:cNvPr id="36" name="Text 34"/>
          <p:cNvSpPr/>
          <p:nvPr/>
        </p:nvSpPr>
        <p:spPr>
          <a:xfrm>
            <a:off x="5376672" y="2468880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A15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Démonstration</a:t>
            </a:r>
            <a:endParaRPr lang="en-US" sz="1600" dirty="0"/>
          </a:p>
        </p:txBody>
      </p:sp>
      <p:sp>
        <p:nvSpPr>
          <p:cNvPr id="37" name="Shape 35"/>
          <p:cNvSpPr/>
          <p:nvPr/>
        </p:nvSpPr>
        <p:spPr>
          <a:xfrm>
            <a:off x="4846320" y="3063240"/>
            <a:ext cx="3931920" cy="502920"/>
          </a:xfrm>
          <a:prstGeom prst="roundRect">
            <a:avLst>
              <a:gd name="adj" fmla="val 14545"/>
            </a:avLst>
          </a:prstGeom>
          <a:solidFill>
            <a:srgbClr val="EEF2FC"/>
          </a:solidFill>
          <a:ln/>
          <a:effectLst>
            <a:outerShdw blurRad="50800" dist="12700" dir="27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fr-FR" sz="1600"/>
          </a:p>
        </p:txBody>
      </p:sp>
      <p:sp>
        <p:nvSpPr>
          <p:cNvPr id="38" name="Shape 36"/>
          <p:cNvSpPr/>
          <p:nvPr/>
        </p:nvSpPr>
        <p:spPr>
          <a:xfrm>
            <a:off x="4937760" y="3136392"/>
            <a:ext cx="347472" cy="347472"/>
          </a:xfrm>
          <a:prstGeom prst="ellipse">
            <a:avLst/>
          </a:prstGeom>
          <a:solidFill>
            <a:srgbClr val="241D6B"/>
          </a:solidFill>
          <a:ln/>
        </p:spPr>
        <p:txBody>
          <a:bodyPr/>
          <a:lstStyle/>
          <a:p>
            <a:endParaRPr lang="fr-FR" sz="1600"/>
          </a:p>
        </p:txBody>
      </p:sp>
      <p:sp>
        <p:nvSpPr>
          <p:cNvPr id="39" name="Text 37"/>
          <p:cNvSpPr/>
          <p:nvPr/>
        </p:nvSpPr>
        <p:spPr>
          <a:xfrm>
            <a:off x="4937760" y="313639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09</a:t>
            </a:r>
            <a:endParaRPr lang="en-US" sz="1600" dirty="0"/>
          </a:p>
        </p:txBody>
      </p:sp>
      <p:sp>
        <p:nvSpPr>
          <p:cNvPr id="40" name="Text 38"/>
          <p:cNvSpPr/>
          <p:nvPr/>
        </p:nvSpPr>
        <p:spPr>
          <a:xfrm>
            <a:off x="5376672" y="3154680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A15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20040" y="228600"/>
            <a:ext cx="502920" cy="502920"/>
          </a:xfrm>
          <a:prstGeom prst="ellipse">
            <a:avLst/>
          </a:prstGeom>
          <a:solidFill>
            <a:srgbClr val="241D6B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" name="Text 1"/>
          <p:cNvSpPr/>
          <p:nvPr/>
        </p:nvSpPr>
        <p:spPr>
          <a:xfrm>
            <a:off x="320040" y="2286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3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960120" y="228600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00B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Présentation du projet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320040" y="914400"/>
            <a:ext cx="5029200" cy="1828800"/>
          </a:xfrm>
          <a:prstGeom prst="roundRect">
            <a:avLst>
              <a:gd name="adj" fmla="val 6000"/>
            </a:avLst>
          </a:prstGeom>
          <a:solidFill>
            <a:srgbClr val="EEF2FC"/>
          </a:solidFill>
          <a:ln/>
          <a:effectLst>
            <a:outerShdw blurRad="76200" dist="254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6" name="Text 4"/>
          <p:cNvSpPr/>
          <p:nvPr/>
        </p:nvSpPr>
        <p:spPr>
          <a:xfrm>
            <a:off x="457200" y="96012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241D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Contexte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457200" y="1325880"/>
            <a:ext cx="47548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A15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marché du freelancing connaît une forte croissance en Afrique. Cependant, il existe peu de plateformes mettant efficacement en relation les freelances et les entreprises locales</a:t>
            </a:r>
            <a:r>
              <a:rPr lang="en-US" sz="1400" dirty="0">
                <a:solidFill>
                  <a:srgbClr val="1A15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320040" y="2880360"/>
            <a:ext cx="5029200" cy="1645920"/>
          </a:xfrm>
          <a:prstGeom prst="roundRect">
            <a:avLst>
              <a:gd name="adj" fmla="val 6667"/>
            </a:avLst>
          </a:prstGeom>
          <a:solidFill>
            <a:srgbClr val="EEF2FC"/>
          </a:solidFill>
          <a:ln/>
          <a:effectLst>
            <a:outerShdw blurRad="76200" dist="254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9" name="Text 7"/>
          <p:cNvSpPr/>
          <p:nvPr/>
        </p:nvSpPr>
        <p:spPr>
          <a:xfrm>
            <a:off x="457200" y="292608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241D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Objectif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457200" y="3310128"/>
            <a:ext cx="47548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A15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Créer une plateforme moderne permettant :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1A15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aux freelances de présenter leurs compétences ;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1A15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aux entreprises de trouver rapidement des profils qualifiés</a:t>
            </a:r>
            <a:r>
              <a:rPr lang="en-US" sz="1100" dirty="0">
                <a:solidFill>
                  <a:srgbClr val="1A15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6446520" y="914400"/>
            <a:ext cx="2423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241D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Public cible</a:t>
            </a:r>
            <a:endParaRPr lang="en-US" sz="2400" dirty="0"/>
          </a:p>
        </p:txBody>
      </p:sp>
      <p:sp>
        <p:nvSpPr>
          <p:cNvPr id="12" name="Shape 10"/>
          <p:cNvSpPr/>
          <p:nvPr/>
        </p:nvSpPr>
        <p:spPr>
          <a:xfrm>
            <a:off x="5509260" y="1440180"/>
            <a:ext cx="731520" cy="731520"/>
          </a:xfrm>
          <a:prstGeom prst="ellipse">
            <a:avLst/>
          </a:prstGeom>
          <a:solidFill>
            <a:srgbClr val="497FD6">
              <a:alpha val="80000"/>
            </a:srgbClr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3" name="Text 11"/>
          <p:cNvSpPr/>
          <p:nvPr/>
        </p:nvSpPr>
        <p:spPr>
          <a:xfrm>
            <a:off x="5394960" y="2148840"/>
            <a:ext cx="1005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1A15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Développeurs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6709410" y="1438399"/>
            <a:ext cx="731520" cy="731520"/>
          </a:xfrm>
          <a:prstGeom prst="ellipse">
            <a:avLst/>
          </a:prstGeom>
          <a:solidFill>
            <a:srgbClr val="497FD6">
              <a:alpha val="80000"/>
            </a:srgbClr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5" name="Text 13"/>
          <p:cNvSpPr/>
          <p:nvPr/>
        </p:nvSpPr>
        <p:spPr>
          <a:xfrm>
            <a:off x="6629400" y="2148840"/>
            <a:ext cx="914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1A15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Designers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7772400" y="1371600"/>
            <a:ext cx="731520" cy="731520"/>
          </a:xfrm>
          <a:prstGeom prst="ellipse">
            <a:avLst/>
          </a:prstGeom>
          <a:solidFill>
            <a:srgbClr val="497FD6">
              <a:alpha val="80000"/>
            </a:srgbClr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7" name="Text 15"/>
          <p:cNvSpPr/>
          <p:nvPr/>
        </p:nvSpPr>
        <p:spPr>
          <a:xfrm>
            <a:off x="7589520" y="2148840"/>
            <a:ext cx="1097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1A15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Community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dirty="0">
                <a:solidFill>
                  <a:srgbClr val="1A15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Managers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5486400" y="2651760"/>
            <a:ext cx="731520" cy="731520"/>
          </a:xfrm>
          <a:prstGeom prst="ellipse">
            <a:avLst/>
          </a:prstGeom>
          <a:solidFill>
            <a:srgbClr val="497FD6">
              <a:alpha val="80000"/>
            </a:srgbClr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9" name="Text 17"/>
          <p:cNvSpPr/>
          <p:nvPr/>
        </p:nvSpPr>
        <p:spPr>
          <a:xfrm>
            <a:off x="5303520" y="3429000"/>
            <a:ext cx="1097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1A15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Entreprises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6629400" y="2651760"/>
            <a:ext cx="731520" cy="731520"/>
          </a:xfrm>
          <a:prstGeom prst="ellipse">
            <a:avLst/>
          </a:prstGeom>
          <a:solidFill>
            <a:srgbClr val="497FD6">
              <a:alpha val="80000"/>
            </a:srgbClr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1" name="Text 19"/>
          <p:cNvSpPr/>
          <p:nvPr/>
        </p:nvSpPr>
        <p:spPr>
          <a:xfrm>
            <a:off x="6446520" y="3429000"/>
            <a:ext cx="1097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1A15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Startups</a:t>
            </a:r>
            <a:endParaRPr lang="en-US" sz="1400" dirty="0"/>
          </a:p>
        </p:txBody>
      </p:sp>
      <p:pic>
        <p:nvPicPr>
          <p:cNvPr id="2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0" y="3200400"/>
            <a:ext cx="1097280" cy="109728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20040" y="228600"/>
            <a:ext cx="502920" cy="502920"/>
          </a:xfrm>
          <a:prstGeom prst="ellipse">
            <a:avLst/>
          </a:prstGeom>
          <a:solidFill>
            <a:srgbClr val="241D6B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" name="Text 1"/>
          <p:cNvSpPr/>
          <p:nvPr/>
        </p:nvSpPr>
        <p:spPr>
          <a:xfrm>
            <a:off x="320040" y="2286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4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960120" y="228600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00B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Choix de design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457200" y="9144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A15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Palette de couleurs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457200" y="1565910"/>
            <a:ext cx="908462" cy="1005840"/>
          </a:xfrm>
          <a:prstGeom prst="roundRect">
            <a:avLst>
              <a:gd name="adj" fmla="val 6667"/>
            </a:avLst>
          </a:prstGeom>
          <a:solidFill>
            <a:srgbClr val="100B20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7" name="Text 5"/>
          <p:cNvSpPr/>
          <p:nvPr/>
        </p:nvSpPr>
        <p:spPr>
          <a:xfrm>
            <a:off x="457200" y="283464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5555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Bleu-turquoise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1828800" y="1543050"/>
            <a:ext cx="1079467" cy="1017270"/>
          </a:xfrm>
          <a:prstGeom prst="roundRect">
            <a:avLst>
              <a:gd name="adj" fmla="val 6667"/>
            </a:avLst>
          </a:prstGeom>
          <a:solidFill>
            <a:srgbClr val="1B073A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9" name="Text 7"/>
          <p:cNvSpPr/>
          <p:nvPr/>
        </p:nvSpPr>
        <p:spPr>
          <a:xfrm>
            <a:off x="2103120" y="283464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5555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Indigo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3354780" y="1560195"/>
            <a:ext cx="1079467" cy="1017270"/>
          </a:xfrm>
          <a:prstGeom prst="roundRect">
            <a:avLst>
              <a:gd name="adj" fmla="val 6667"/>
            </a:avLst>
          </a:prstGeom>
          <a:solidFill>
            <a:srgbClr val="241D6B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1" name="Text 9"/>
          <p:cNvSpPr/>
          <p:nvPr/>
        </p:nvSpPr>
        <p:spPr>
          <a:xfrm>
            <a:off x="3749040" y="283464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/>
              <a:t>Bleu-</a:t>
            </a:r>
            <a:r>
              <a:rPr lang="en-US" sz="1600" dirty="0" err="1"/>
              <a:t>ciel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4772694" y="1595913"/>
            <a:ext cx="1079467" cy="964407"/>
          </a:xfrm>
          <a:prstGeom prst="roundRect">
            <a:avLst>
              <a:gd name="adj" fmla="val 6667"/>
            </a:avLst>
          </a:prstGeom>
          <a:solidFill>
            <a:srgbClr val="497FD6"/>
          </a:solidFill>
          <a:ln/>
        </p:spPr>
        <p:txBody>
          <a:bodyPr/>
          <a:lstStyle/>
          <a:p>
            <a:endParaRPr lang="fr-FR" sz="1200" dirty="0"/>
          </a:p>
        </p:txBody>
      </p:sp>
      <p:sp>
        <p:nvSpPr>
          <p:cNvPr id="13" name="Text 11"/>
          <p:cNvSpPr/>
          <p:nvPr/>
        </p:nvSpPr>
        <p:spPr>
          <a:xfrm>
            <a:off x="5394960" y="283464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5555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Gris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6080760" y="1575196"/>
            <a:ext cx="1079467" cy="964407"/>
          </a:xfrm>
          <a:prstGeom prst="roundRect">
            <a:avLst>
              <a:gd name="adj" fmla="val 6667"/>
            </a:avLst>
          </a:prstGeom>
          <a:solidFill>
            <a:schemeClr val="bg1">
              <a:lumMod val="85000"/>
            </a:schemeClr>
          </a:solidFill>
          <a:ln/>
        </p:spPr>
        <p:txBody>
          <a:bodyPr/>
          <a:lstStyle/>
          <a:p>
            <a:endParaRPr lang="fr-FR" dirty="0"/>
          </a:p>
        </p:txBody>
      </p:sp>
      <p:sp>
        <p:nvSpPr>
          <p:cNvPr id="15" name="Text 13"/>
          <p:cNvSpPr/>
          <p:nvPr/>
        </p:nvSpPr>
        <p:spPr>
          <a:xfrm>
            <a:off x="7040880" y="283464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5555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Noir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457200" y="3291840"/>
            <a:ext cx="8229600" cy="1554480"/>
          </a:xfrm>
          <a:prstGeom prst="roundRect">
            <a:avLst>
              <a:gd name="adj" fmla="val 7059"/>
            </a:avLst>
          </a:prstGeom>
          <a:solidFill>
            <a:srgbClr val="EEF2FC"/>
          </a:solidFill>
          <a:ln/>
          <a:effectLst>
            <a:outerShdw blurRad="76200" dist="25400" dir="27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17" name="Text 15"/>
          <p:cNvSpPr/>
          <p:nvPr/>
        </p:nvSpPr>
        <p:spPr>
          <a:xfrm>
            <a:off x="731520" y="338328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241D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Pourquoi</a:t>
            </a:r>
            <a:r>
              <a:rPr lang="en-US" sz="1400" b="1" dirty="0">
                <a:solidFill>
                  <a:srgbClr val="241D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?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731520" y="3749040"/>
            <a:ext cx="6400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A15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Une </a:t>
            </a:r>
            <a:r>
              <a:rPr lang="en-US" dirty="0">
                <a:solidFill>
                  <a:srgbClr val="1A15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palette</a:t>
            </a:r>
            <a:r>
              <a:rPr lang="en-US" sz="1300" dirty="0">
                <a:solidFill>
                  <a:srgbClr val="1A15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moderne inspirant la confiance et le professionnalisme.</a:t>
            </a:r>
            <a:endParaRPr lang="en-US" sz="1300" dirty="0"/>
          </a:p>
        </p:txBody>
      </p:sp>
      <p:pic>
        <p:nvPicPr>
          <p:cNvPr id="19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0" y="3383280"/>
            <a:ext cx="822960" cy="822960"/>
          </a:xfrm>
          <a:prstGeom prst="rect">
            <a:avLst/>
          </a:prstGeom>
        </p:spPr>
      </p:pic>
      <p:sp>
        <p:nvSpPr>
          <p:cNvPr id="21" name="Shape 12">
            <a:extLst>
              <a:ext uri="{FF2B5EF4-FFF2-40B4-BE49-F238E27FC236}">
                <a16:creationId xmlns:a16="http://schemas.microsoft.com/office/drawing/2014/main" id="{510C72C3-0F79-FFA7-1A6F-9235466D8CB8}"/>
              </a:ext>
            </a:extLst>
          </p:cNvPr>
          <p:cNvSpPr/>
          <p:nvPr/>
        </p:nvSpPr>
        <p:spPr>
          <a:xfrm>
            <a:off x="7515893" y="1565910"/>
            <a:ext cx="1079467" cy="958692"/>
          </a:xfrm>
          <a:prstGeom prst="roundRect">
            <a:avLst>
              <a:gd name="adj" fmla="val 6667"/>
            </a:avLst>
          </a:prstGeom>
          <a:solidFill>
            <a:schemeClr val="bg2">
              <a:lumMod val="10000"/>
            </a:schemeClr>
          </a:solidFill>
          <a:ln/>
        </p:spPr>
        <p:txBody>
          <a:bodyPr/>
          <a:lstStyle/>
          <a:p>
            <a:endParaRPr lang="fr-FR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20040" y="228600"/>
            <a:ext cx="502920" cy="502920"/>
          </a:xfrm>
          <a:prstGeom prst="ellipse">
            <a:avLst/>
          </a:prstGeom>
          <a:solidFill>
            <a:srgbClr val="241D6B"/>
          </a:solidFill>
          <a:ln/>
        </p:spPr>
        <p:txBody>
          <a:bodyPr/>
          <a:lstStyle/>
          <a:p>
            <a:endParaRPr lang="fr-FR" sz="1600"/>
          </a:p>
        </p:txBody>
      </p:sp>
      <p:sp>
        <p:nvSpPr>
          <p:cNvPr id="3" name="Text 1"/>
          <p:cNvSpPr/>
          <p:nvPr/>
        </p:nvSpPr>
        <p:spPr>
          <a:xfrm>
            <a:off x="320040" y="2286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5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960120" y="228600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00B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Choix de design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365760" y="960120"/>
            <a:ext cx="2926080" cy="1143000"/>
          </a:xfrm>
          <a:prstGeom prst="roundRect">
            <a:avLst>
              <a:gd name="adj" fmla="val 8000"/>
            </a:avLst>
          </a:prstGeom>
          <a:solidFill>
            <a:srgbClr val="F8F9FE"/>
          </a:solidFill>
          <a:ln/>
          <a:effectLst>
            <a:outerShdw blurRad="63500" dist="25400" dir="2700000" algn="bl" rotWithShape="0">
              <a:srgbClr val="000000">
                <a:alpha val="9000"/>
              </a:srgbClr>
            </a:outerShdw>
          </a:effectLst>
        </p:spPr>
        <p:txBody>
          <a:bodyPr/>
          <a:lstStyle/>
          <a:p>
            <a:endParaRPr lang="fr-FR" sz="1600" dirty="0"/>
          </a:p>
        </p:txBody>
      </p:sp>
      <p:sp>
        <p:nvSpPr>
          <p:cNvPr id="6" name="Shape 4"/>
          <p:cNvSpPr/>
          <p:nvPr/>
        </p:nvSpPr>
        <p:spPr>
          <a:xfrm>
            <a:off x="457200" y="1051560"/>
            <a:ext cx="502920" cy="502920"/>
          </a:xfrm>
          <a:prstGeom prst="roundRect">
            <a:avLst>
              <a:gd name="adj" fmla="val 10909"/>
            </a:avLst>
          </a:prstGeom>
          <a:solidFill>
            <a:srgbClr val="241D6B"/>
          </a:solidFill>
          <a:ln/>
        </p:spPr>
        <p:txBody>
          <a:bodyPr/>
          <a:lstStyle/>
          <a:p>
            <a:endParaRPr lang="fr-FR" sz="1600"/>
          </a:p>
        </p:txBody>
      </p:sp>
      <p:sp>
        <p:nvSpPr>
          <p:cNvPr id="7" name="Text 5"/>
          <p:cNvSpPr/>
          <p:nvPr/>
        </p:nvSpPr>
        <p:spPr>
          <a:xfrm>
            <a:off x="457200" y="10515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000000"/>
                </a:solidFill>
              </a:rPr>
              <a:t>Aa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051560" y="105156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00B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Typographie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051560" y="1344168"/>
            <a:ext cx="2103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5555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Poppins → Titres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5555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 → Texte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365760" y="2286000"/>
            <a:ext cx="2926080" cy="1143000"/>
          </a:xfrm>
          <a:prstGeom prst="roundRect">
            <a:avLst>
              <a:gd name="adj" fmla="val 8000"/>
            </a:avLst>
          </a:prstGeom>
          <a:solidFill>
            <a:srgbClr val="F8F9FE"/>
          </a:solidFill>
          <a:ln/>
          <a:effectLst>
            <a:outerShdw blurRad="63500" dist="25400" dir="2700000" algn="bl" rotWithShape="0">
              <a:srgbClr val="000000">
                <a:alpha val="9000"/>
              </a:srgbClr>
            </a:outerShdw>
          </a:effectLst>
        </p:spPr>
        <p:txBody>
          <a:bodyPr/>
          <a:lstStyle/>
          <a:p>
            <a:endParaRPr lang="fr-FR" sz="1600"/>
          </a:p>
        </p:txBody>
      </p:sp>
      <p:sp>
        <p:nvSpPr>
          <p:cNvPr id="11" name="Shape 9"/>
          <p:cNvSpPr/>
          <p:nvPr/>
        </p:nvSpPr>
        <p:spPr>
          <a:xfrm>
            <a:off x="457200" y="2377440"/>
            <a:ext cx="502920" cy="502920"/>
          </a:xfrm>
          <a:prstGeom prst="roundRect">
            <a:avLst>
              <a:gd name="adj" fmla="val 10909"/>
            </a:avLst>
          </a:prstGeom>
          <a:solidFill>
            <a:srgbClr val="241D6B"/>
          </a:solidFill>
          <a:ln/>
        </p:spPr>
        <p:txBody>
          <a:bodyPr/>
          <a:lstStyle/>
          <a:p>
            <a:endParaRPr lang="fr-FR" sz="1600"/>
          </a:p>
        </p:txBody>
      </p:sp>
      <p:sp>
        <p:nvSpPr>
          <p:cNvPr id="12" name="Text 10"/>
          <p:cNvSpPr/>
          <p:nvPr/>
        </p:nvSpPr>
        <p:spPr>
          <a:xfrm>
            <a:off x="457200" y="23774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000000"/>
                </a:solidFill>
              </a:rPr>
              <a:t>💡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1051560" y="237744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00B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Inspirations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1051560" y="2670048"/>
            <a:ext cx="2103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5555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Awwwards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5555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Dribbble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228600" y="3657600"/>
            <a:ext cx="2926080" cy="1143000"/>
          </a:xfrm>
          <a:prstGeom prst="roundRect">
            <a:avLst>
              <a:gd name="adj" fmla="val 8000"/>
            </a:avLst>
          </a:prstGeom>
          <a:solidFill>
            <a:srgbClr val="F8F9FE"/>
          </a:solidFill>
          <a:ln/>
          <a:effectLst>
            <a:outerShdw blurRad="63500" dist="25400" dir="2700000" algn="bl" rotWithShape="0">
              <a:srgbClr val="000000">
                <a:alpha val="9000"/>
              </a:srgbClr>
            </a:outerShdw>
          </a:effectLst>
        </p:spPr>
        <p:txBody>
          <a:bodyPr/>
          <a:lstStyle/>
          <a:p>
            <a:endParaRPr lang="fr-FR" sz="1600"/>
          </a:p>
        </p:txBody>
      </p:sp>
      <p:sp>
        <p:nvSpPr>
          <p:cNvPr id="16" name="Shape 14"/>
          <p:cNvSpPr/>
          <p:nvPr/>
        </p:nvSpPr>
        <p:spPr>
          <a:xfrm>
            <a:off x="457200" y="3703320"/>
            <a:ext cx="502920" cy="502920"/>
          </a:xfrm>
          <a:prstGeom prst="roundRect">
            <a:avLst>
              <a:gd name="adj" fmla="val 10909"/>
            </a:avLst>
          </a:prstGeom>
          <a:solidFill>
            <a:srgbClr val="241D6B"/>
          </a:solidFill>
          <a:ln/>
        </p:spPr>
        <p:txBody>
          <a:bodyPr/>
          <a:lstStyle/>
          <a:p>
            <a:endParaRPr lang="fr-FR" sz="1600"/>
          </a:p>
        </p:txBody>
      </p:sp>
      <p:sp>
        <p:nvSpPr>
          <p:cNvPr id="17" name="Text 15"/>
          <p:cNvSpPr/>
          <p:nvPr/>
        </p:nvSpPr>
        <p:spPr>
          <a:xfrm>
            <a:off x="457200" y="37033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000000"/>
                </a:solidFill>
              </a:rPr>
              <a:t>⭐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1051560" y="370332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00B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Objectif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1051560" y="3995928"/>
            <a:ext cx="2103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5555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Créer une interface moderne, élégante et facile à utiliser.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3566160" y="914400"/>
            <a:ext cx="5303520" cy="3840480"/>
          </a:xfrm>
          <a:prstGeom prst="roundRect">
            <a:avLst>
              <a:gd name="adj" fmla="val 3571"/>
            </a:avLst>
          </a:prstGeom>
          <a:solidFill>
            <a:srgbClr val="0D0A1E"/>
          </a:solidFill>
          <a:ln/>
          <a:effectLst>
            <a:outerShdw blurRad="127000" dist="38100" dir="27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fr-FR" sz="1600"/>
          </a:p>
        </p:txBody>
      </p:sp>
      <p:sp>
        <p:nvSpPr>
          <p:cNvPr id="21" name="Text 19"/>
          <p:cNvSpPr/>
          <p:nvPr/>
        </p:nvSpPr>
        <p:spPr>
          <a:xfrm>
            <a:off x="3840480" y="118872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497F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AfriTalent</a:t>
            </a:r>
            <a:endParaRPr lang="en-US" sz="2800" dirty="0"/>
          </a:p>
        </p:txBody>
      </p:sp>
      <p:sp>
        <p:nvSpPr>
          <p:cNvPr id="22" name="Text 20"/>
          <p:cNvSpPr/>
          <p:nvPr/>
        </p:nvSpPr>
        <p:spPr>
          <a:xfrm>
            <a:off x="3840480" y="1691640"/>
            <a:ext cx="4114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Trouvez le talent qu'il vous faut.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3840480" y="365760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497F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500+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3840480" y="404164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600" dirty="0">
                <a:solidFill>
                  <a:srgbClr val="AAB4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Freelances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5394960" y="365760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497F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200+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5394960" y="404164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AAB4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Entreprises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6949440" y="365760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497F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1000+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6949440" y="404164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AAB4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Projets réalisés</a:t>
            </a:r>
            <a:endParaRPr lang="en-US" sz="16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20040" y="152799"/>
            <a:ext cx="502920" cy="474181"/>
          </a:xfrm>
          <a:prstGeom prst="ellipse">
            <a:avLst/>
          </a:prstGeom>
          <a:solidFill>
            <a:srgbClr val="241D6B"/>
          </a:solidFill>
          <a:ln/>
        </p:spPr>
        <p:txBody>
          <a:bodyPr/>
          <a:lstStyle/>
          <a:p>
            <a:endParaRPr lang="fr-FR" sz="1400"/>
          </a:p>
        </p:txBody>
      </p:sp>
      <p:sp>
        <p:nvSpPr>
          <p:cNvPr id="3" name="Text 1"/>
          <p:cNvSpPr/>
          <p:nvPr/>
        </p:nvSpPr>
        <p:spPr>
          <a:xfrm>
            <a:off x="320040" y="0"/>
            <a:ext cx="502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6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960120" y="228600"/>
            <a:ext cx="3657600" cy="2920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00B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365760" y="560977"/>
            <a:ext cx="8229600" cy="53630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365760" y="697159"/>
            <a:ext cx="5029200" cy="4363721"/>
          </a:xfrm>
          <a:prstGeom prst="roundRect">
            <a:avLst>
              <a:gd name="adj" fmla="val 3000"/>
            </a:avLst>
          </a:prstGeom>
          <a:solidFill>
            <a:srgbClr val="0F0D1E"/>
          </a:solidFill>
          <a:ln/>
        </p:spPr>
        <p:txBody>
          <a:bodyPr/>
          <a:lstStyle/>
          <a:p>
            <a:endParaRPr lang="fr-FR" sz="1400" dirty="0"/>
          </a:p>
        </p:txBody>
      </p:sp>
      <p:sp>
        <p:nvSpPr>
          <p:cNvPr id="7" name="Text 5"/>
          <p:cNvSpPr/>
          <p:nvPr/>
        </p:nvSpPr>
        <p:spPr>
          <a:xfrm>
            <a:off x="548640" y="763848"/>
            <a:ext cx="4389120" cy="3425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FD7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📁  AfriTalent/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914400" y="909828"/>
            <a:ext cx="4389120" cy="5198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87CE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📄  index.html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914400" y="644652"/>
            <a:ext cx="4389120" cy="14676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87CE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📄  freelance.html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914400" y="867702"/>
            <a:ext cx="4389120" cy="15097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87CE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📄  tarif.html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914400" y="1115568"/>
            <a:ext cx="4389120" cy="1527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87CE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📄  apropos.html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914400" y="1267823"/>
            <a:ext cx="4389120" cy="163996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87CE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📄  blog.html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914400" y="1581912"/>
            <a:ext cx="4389120" cy="17739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FD7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📁  css/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1280160" y="1786273"/>
            <a:ext cx="4389120" cy="184389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98FB9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📄  style.css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1280160" y="3447288"/>
            <a:ext cx="4389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914400" y="1948107"/>
            <a:ext cx="4389120" cy="202038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FD7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📁  js/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1280160" y="2195939"/>
            <a:ext cx="4389120" cy="203773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0E6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📄  main.js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914400" y="2360096"/>
            <a:ext cx="4389120" cy="2138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FD7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📁  images/</a:t>
            </a:r>
            <a:endParaRPr lang="en-US" sz="1400" dirty="0"/>
          </a:p>
        </p:txBody>
      </p:sp>
      <p:sp>
        <p:nvSpPr>
          <p:cNvPr id="20" name="ZoneTexte 19">
            <a:extLst>
              <a:ext uri="{FF2B5EF4-FFF2-40B4-BE49-F238E27FC236}">
                <a16:creationId xmlns:a16="http://schemas.microsoft.com/office/drawing/2014/main" id="{03EB8C90-0EFD-A14C-F28A-72DD48C18A89}"/>
              </a:ext>
            </a:extLst>
          </p:cNvPr>
          <p:cNvSpPr txBox="1"/>
          <p:nvPr/>
        </p:nvSpPr>
        <p:spPr>
          <a:xfrm>
            <a:off x="821871" y="2152033"/>
            <a:ext cx="3003006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87CE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📄  contact.html</a:t>
            </a:r>
            <a:endParaRPr lang="en-US" sz="1400" dirty="0"/>
          </a:p>
        </p:txBody>
      </p:sp>
      <p:sp>
        <p:nvSpPr>
          <p:cNvPr id="24" name="ZoneTexte 23">
            <a:extLst>
              <a:ext uri="{FF2B5EF4-FFF2-40B4-BE49-F238E27FC236}">
                <a16:creationId xmlns:a16="http://schemas.microsoft.com/office/drawing/2014/main" id="{DC6DBDED-9031-6427-FCCE-64751105C24E}"/>
              </a:ext>
            </a:extLst>
          </p:cNvPr>
          <p:cNvSpPr txBox="1"/>
          <p:nvPr/>
        </p:nvSpPr>
        <p:spPr>
          <a:xfrm>
            <a:off x="1463040" y="3500835"/>
            <a:ext cx="457200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dirty="0">
                <a:solidFill>
                  <a:srgbClr val="98FB98"/>
                </a:solidFill>
                <a:latin typeface="Courier New" pitchFamily="34" charset="0"/>
                <a:cs typeface="Courier New" pitchFamily="34" charset="-120"/>
              </a:rPr>
              <a:t>Hero.jpg</a:t>
            </a:r>
            <a:endParaRPr lang="fr-FR" sz="1400" dirty="0"/>
          </a:p>
        </p:txBody>
      </p:sp>
      <p:sp>
        <p:nvSpPr>
          <p:cNvPr id="26" name="ZoneTexte 25">
            <a:extLst>
              <a:ext uri="{FF2B5EF4-FFF2-40B4-BE49-F238E27FC236}">
                <a16:creationId xmlns:a16="http://schemas.microsoft.com/office/drawing/2014/main" id="{A066B99B-12E4-FB99-B017-34BD414D57B3}"/>
              </a:ext>
            </a:extLst>
          </p:cNvPr>
          <p:cNvSpPr txBox="1"/>
          <p:nvPr/>
        </p:nvSpPr>
        <p:spPr>
          <a:xfrm>
            <a:off x="1463040" y="3677319"/>
            <a:ext cx="457200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dirty="0">
                <a:solidFill>
                  <a:srgbClr val="98FB98"/>
                </a:solidFill>
                <a:latin typeface="Courier New" pitchFamily="34" charset="0"/>
                <a:cs typeface="Courier New" pitchFamily="34" charset="-120"/>
              </a:rPr>
              <a:t>Capture-site.jpg</a:t>
            </a:r>
            <a:endParaRPr lang="fr-FR" sz="1400" dirty="0"/>
          </a:p>
        </p:txBody>
      </p:sp>
      <p:sp>
        <p:nvSpPr>
          <p:cNvPr id="28" name="ZoneTexte 27">
            <a:extLst>
              <a:ext uri="{FF2B5EF4-FFF2-40B4-BE49-F238E27FC236}">
                <a16:creationId xmlns:a16="http://schemas.microsoft.com/office/drawing/2014/main" id="{EDD66900-2EA9-FF2E-D2E7-A1D3FC089A2F}"/>
              </a:ext>
            </a:extLst>
          </p:cNvPr>
          <p:cNvSpPr txBox="1"/>
          <p:nvPr/>
        </p:nvSpPr>
        <p:spPr>
          <a:xfrm>
            <a:off x="1435463" y="3874598"/>
            <a:ext cx="457200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dirty="0">
                <a:solidFill>
                  <a:srgbClr val="98FB98"/>
                </a:solidFill>
                <a:latin typeface="Courier New" pitchFamily="34" charset="0"/>
                <a:cs typeface="Courier New" pitchFamily="34" charset="-120"/>
              </a:rPr>
              <a:t>Freelance.jpg</a:t>
            </a:r>
            <a:endParaRPr lang="fr-FR" sz="1400" dirty="0"/>
          </a:p>
        </p:txBody>
      </p:sp>
      <p:sp>
        <p:nvSpPr>
          <p:cNvPr id="30" name="ZoneTexte 29">
            <a:extLst>
              <a:ext uri="{FF2B5EF4-FFF2-40B4-BE49-F238E27FC236}">
                <a16:creationId xmlns:a16="http://schemas.microsoft.com/office/drawing/2014/main" id="{356A264E-B326-4052-616D-C5B9FFBEF469}"/>
              </a:ext>
            </a:extLst>
          </p:cNvPr>
          <p:cNvSpPr txBox="1"/>
          <p:nvPr/>
        </p:nvSpPr>
        <p:spPr>
          <a:xfrm>
            <a:off x="836749" y="4098813"/>
            <a:ext cx="457200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FFD7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📁  docs/</a:t>
            </a:r>
            <a:endParaRPr lang="en-US" sz="1400" dirty="0"/>
          </a:p>
        </p:txBody>
      </p:sp>
      <p:sp>
        <p:nvSpPr>
          <p:cNvPr id="32" name="ZoneTexte 31">
            <a:extLst>
              <a:ext uri="{FF2B5EF4-FFF2-40B4-BE49-F238E27FC236}">
                <a16:creationId xmlns:a16="http://schemas.microsoft.com/office/drawing/2014/main" id="{27996AB9-09E6-94C9-FF84-44227860F595}"/>
              </a:ext>
            </a:extLst>
          </p:cNvPr>
          <p:cNvSpPr txBox="1"/>
          <p:nvPr/>
        </p:nvSpPr>
        <p:spPr>
          <a:xfrm>
            <a:off x="1385389" y="4341948"/>
            <a:ext cx="457200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dirty="0">
                <a:solidFill>
                  <a:srgbClr val="87CEEB"/>
                </a:solidFill>
                <a:latin typeface="Courier New" pitchFamily="34" charset="0"/>
                <a:cs typeface="Courier New" pitchFamily="34" charset="-120"/>
              </a:rPr>
              <a:t>Top_Ibrahima_Presentation.pptx</a:t>
            </a:r>
            <a:endParaRPr lang="fr-FR" sz="1400" dirty="0"/>
          </a:p>
        </p:txBody>
      </p:sp>
      <p:sp>
        <p:nvSpPr>
          <p:cNvPr id="34" name="ZoneTexte 33">
            <a:extLst>
              <a:ext uri="{FF2B5EF4-FFF2-40B4-BE49-F238E27FC236}">
                <a16:creationId xmlns:a16="http://schemas.microsoft.com/office/drawing/2014/main" id="{6178B27B-D0E1-5BC7-E35E-7C1AA349377B}"/>
              </a:ext>
            </a:extLst>
          </p:cNvPr>
          <p:cNvSpPr txBox="1"/>
          <p:nvPr/>
        </p:nvSpPr>
        <p:spPr>
          <a:xfrm>
            <a:off x="799737" y="4621369"/>
            <a:ext cx="457200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F0E6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📄  README.md</a:t>
            </a:r>
            <a:endParaRPr lang="en-US" sz="1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20040" y="228600"/>
            <a:ext cx="502920" cy="502920"/>
          </a:xfrm>
          <a:prstGeom prst="ellipse">
            <a:avLst/>
          </a:prstGeom>
          <a:solidFill>
            <a:srgbClr val="241D6B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" name="Text 1"/>
          <p:cNvSpPr/>
          <p:nvPr/>
        </p:nvSpPr>
        <p:spPr>
          <a:xfrm>
            <a:off x="320040" y="2286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7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960120" y="228600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00B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Pages réalisées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274320" y="845820"/>
            <a:ext cx="2697480" cy="1828800"/>
          </a:xfrm>
          <a:prstGeom prst="roundRect">
            <a:avLst>
              <a:gd name="adj" fmla="val 5000"/>
            </a:avLst>
          </a:prstGeom>
          <a:solidFill>
            <a:srgbClr val="EEF2FC"/>
          </a:solidFill>
          <a:ln/>
          <a:effectLst>
            <a:outerShdw blurRad="76200" dist="254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fr-FR" dirty="0"/>
          </a:p>
        </p:txBody>
      </p:sp>
      <p:sp>
        <p:nvSpPr>
          <p:cNvPr id="6" name="Shape 4"/>
          <p:cNvSpPr/>
          <p:nvPr/>
        </p:nvSpPr>
        <p:spPr>
          <a:xfrm>
            <a:off x="320040" y="822960"/>
            <a:ext cx="2697480" cy="320040"/>
          </a:xfrm>
          <a:prstGeom prst="rect">
            <a:avLst/>
          </a:prstGeom>
          <a:solidFill>
            <a:srgbClr val="0D0A1E"/>
          </a:solidFill>
          <a:ln/>
        </p:spPr>
        <p:txBody>
          <a:bodyPr/>
          <a:lstStyle/>
          <a:p>
            <a:endParaRPr lang="fr-FR" sz="2400"/>
          </a:p>
        </p:txBody>
      </p:sp>
      <p:sp>
        <p:nvSpPr>
          <p:cNvPr id="7" name="Shape 5"/>
          <p:cNvSpPr/>
          <p:nvPr/>
        </p:nvSpPr>
        <p:spPr>
          <a:xfrm>
            <a:off x="429768" y="914400"/>
            <a:ext cx="109728" cy="109728"/>
          </a:xfrm>
          <a:prstGeom prst="ellipse">
            <a:avLst/>
          </a:prstGeom>
          <a:solidFill>
            <a:srgbClr val="FF5F57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8" name="Shape 6"/>
          <p:cNvSpPr/>
          <p:nvPr/>
        </p:nvSpPr>
        <p:spPr>
          <a:xfrm>
            <a:off x="594360" y="914400"/>
            <a:ext cx="109728" cy="109728"/>
          </a:xfrm>
          <a:prstGeom prst="ellipse">
            <a:avLst/>
          </a:prstGeom>
          <a:solidFill>
            <a:srgbClr val="FFBD2E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9" name="Shape 7"/>
          <p:cNvSpPr/>
          <p:nvPr/>
        </p:nvSpPr>
        <p:spPr>
          <a:xfrm>
            <a:off x="758952" y="914400"/>
            <a:ext cx="109728" cy="109728"/>
          </a:xfrm>
          <a:prstGeom prst="ellipse">
            <a:avLst/>
          </a:prstGeom>
          <a:solidFill>
            <a:srgbClr val="28C840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0" name="Text 8"/>
          <p:cNvSpPr/>
          <p:nvPr/>
        </p:nvSpPr>
        <p:spPr>
          <a:xfrm>
            <a:off x="411480" y="1207008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241D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Accueil</a:t>
            </a: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411480" y="1536192"/>
            <a:ext cx="24688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A15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 d'accueil moderne présentant la plateforme et ses avantages.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3200400" y="731520"/>
            <a:ext cx="2697480" cy="1828800"/>
          </a:xfrm>
          <a:prstGeom prst="roundRect">
            <a:avLst>
              <a:gd name="adj" fmla="val 5000"/>
            </a:avLst>
          </a:prstGeom>
          <a:solidFill>
            <a:srgbClr val="EEF2FC"/>
          </a:solidFill>
          <a:ln/>
          <a:effectLst>
            <a:outerShdw blurRad="76200" dist="254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13" name="Shape 11"/>
          <p:cNvSpPr/>
          <p:nvPr/>
        </p:nvSpPr>
        <p:spPr>
          <a:xfrm>
            <a:off x="3246120" y="822960"/>
            <a:ext cx="2697480" cy="320040"/>
          </a:xfrm>
          <a:prstGeom prst="rect">
            <a:avLst/>
          </a:prstGeom>
          <a:solidFill>
            <a:srgbClr val="0D0A1E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4" name="Shape 12"/>
          <p:cNvSpPr/>
          <p:nvPr/>
        </p:nvSpPr>
        <p:spPr>
          <a:xfrm>
            <a:off x="3355848" y="914400"/>
            <a:ext cx="109728" cy="109728"/>
          </a:xfrm>
          <a:prstGeom prst="ellipse">
            <a:avLst/>
          </a:prstGeom>
          <a:solidFill>
            <a:srgbClr val="FF5F57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5" name="Shape 13"/>
          <p:cNvSpPr/>
          <p:nvPr/>
        </p:nvSpPr>
        <p:spPr>
          <a:xfrm>
            <a:off x="3520440" y="914400"/>
            <a:ext cx="109728" cy="109728"/>
          </a:xfrm>
          <a:prstGeom prst="ellipse">
            <a:avLst/>
          </a:prstGeom>
          <a:solidFill>
            <a:srgbClr val="FFBD2E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6" name="Shape 14"/>
          <p:cNvSpPr/>
          <p:nvPr/>
        </p:nvSpPr>
        <p:spPr>
          <a:xfrm>
            <a:off x="3685032" y="914400"/>
            <a:ext cx="109728" cy="109728"/>
          </a:xfrm>
          <a:prstGeom prst="ellipse">
            <a:avLst/>
          </a:prstGeom>
          <a:solidFill>
            <a:srgbClr val="28C840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7" name="Text 15"/>
          <p:cNvSpPr/>
          <p:nvPr/>
        </p:nvSpPr>
        <p:spPr>
          <a:xfrm>
            <a:off x="3337560" y="1207008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 err="1">
                <a:solidFill>
                  <a:srgbClr val="241D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Tarifs</a:t>
            </a:r>
            <a:endParaRPr lang="en-US" dirty="0"/>
          </a:p>
        </p:txBody>
      </p:sp>
      <p:sp>
        <p:nvSpPr>
          <p:cNvPr id="18" name="Text 16"/>
          <p:cNvSpPr/>
          <p:nvPr/>
        </p:nvSpPr>
        <p:spPr>
          <a:xfrm>
            <a:off x="3337560" y="1536192"/>
            <a:ext cx="24688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A15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Présentation des tariffs </a:t>
            </a:r>
            <a:r>
              <a:rPr lang="en-US" sz="1400" dirty="0" err="1">
                <a:solidFill>
                  <a:srgbClr val="1A15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disponibles</a:t>
            </a:r>
            <a:r>
              <a:rPr lang="en-US" sz="1400" dirty="0">
                <a:solidFill>
                  <a:srgbClr val="1A15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pour les </a:t>
            </a:r>
            <a:r>
              <a:rPr lang="en-US" sz="1400" dirty="0" err="1">
                <a:solidFill>
                  <a:srgbClr val="1A15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différentes</a:t>
            </a:r>
            <a:r>
              <a:rPr lang="en-US" sz="1400" dirty="0">
                <a:solidFill>
                  <a:srgbClr val="1A15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400" dirty="0" err="1">
                <a:solidFill>
                  <a:srgbClr val="1A15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catégories</a:t>
            </a:r>
            <a:r>
              <a:rPr lang="en-US" sz="1400" dirty="0">
                <a:solidFill>
                  <a:srgbClr val="1A15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freelances.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6172200" y="822960"/>
            <a:ext cx="2697480" cy="1828800"/>
          </a:xfrm>
          <a:prstGeom prst="roundRect">
            <a:avLst>
              <a:gd name="adj" fmla="val 5000"/>
            </a:avLst>
          </a:prstGeom>
          <a:solidFill>
            <a:srgbClr val="EEF2FC"/>
          </a:solidFill>
          <a:ln/>
          <a:effectLst>
            <a:outerShdw blurRad="76200" dist="254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20" name="Shape 18"/>
          <p:cNvSpPr/>
          <p:nvPr/>
        </p:nvSpPr>
        <p:spPr>
          <a:xfrm>
            <a:off x="6172200" y="822960"/>
            <a:ext cx="2697480" cy="320040"/>
          </a:xfrm>
          <a:prstGeom prst="rect">
            <a:avLst/>
          </a:prstGeom>
          <a:solidFill>
            <a:srgbClr val="0D0A1E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1" name="Shape 19"/>
          <p:cNvSpPr/>
          <p:nvPr/>
        </p:nvSpPr>
        <p:spPr>
          <a:xfrm>
            <a:off x="6281928" y="914400"/>
            <a:ext cx="109728" cy="109728"/>
          </a:xfrm>
          <a:prstGeom prst="ellipse">
            <a:avLst/>
          </a:prstGeom>
          <a:solidFill>
            <a:srgbClr val="FF5F57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2" name="Shape 20"/>
          <p:cNvSpPr/>
          <p:nvPr/>
        </p:nvSpPr>
        <p:spPr>
          <a:xfrm>
            <a:off x="6446520" y="914400"/>
            <a:ext cx="109728" cy="109728"/>
          </a:xfrm>
          <a:prstGeom prst="ellipse">
            <a:avLst/>
          </a:prstGeom>
          <a:solidFill>
            <a:srgbClr val="FFBD2E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3" name="Shape 21"/>
          <p:cNvSpPr/>
          <p:nvPr/>
        </p:nvSpPr>
        <p:spPr>
          <a:xfrm>
            <a:off x="6611112" y="914400"/>
            <a:ext cx="109728" cy="109728"/>
          </a:xfrm>
          <a:prstGeom prst="ellipse">
            <a:avLst/>
          </a:prstGeom>
          <a:solidFill>
            <a:srgbClr val="28C840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4" name="Text 22"/>
          <p:cNvSpPr/>
          <p:nvPr/>
        </p:nvSpPr>
        <p:spPr>
          <a:xfrm>
            <a:off x="6263640" y="1207008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241D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Freelances</a:t>
            </a:r>
            <a:endParaRPr lang="en-US" dirty="0"/>
          </a:p>
        </p:txBody>
      </p:sp>
      <p:sp>
        <p:nvSpPr>
          <p:cNvPr id="25" name="Text 23"/>
          <p:cNvSpPr/>
          <p:nvPr/>
        </p:nvSpPr>
        <p:spPr>
          <a:xfrm>
            <a:off x="6263640" y="1536192"/>
            <a:ext cx="24688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A15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Liste des freelances avec filtres et recherche avancée.</a:t>
            </a:r>
            <a:endParaRPr lang="en-US" sz="1400" dirty="0"/>
          </a:p>
        </p:txBody>
      </p:sp>
      <p:sp>
        <p:nvSpPr>
          <p:cNvPr id="26" name="Shape 24"/>
          <p:cNvSpPr/>
          <p:nvPr/>
        </p:nvSpPr>
        <p:spPr>
          <a:xfrm>
            <a:off x="320040" y="2788920"/>
            <a:ext cx="2697480" cy="1828800"/>
          </a:xfrm>
          <a:prstGeom prst="roundRect">
            <a:avLst>
              <a:gd name="adj" fmla="val 5000"/>
            </a:avLst>
          </a:prstGeom>
          <a:solidFill>
            <a:srgbClr val="EEF2FC"/>
          </a:solidFill>
          <a:ln/>
          <a:effectLst>
            <a:outerShdw blurRad="76200" dist="254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27" name="Shape 25"/>
          <p:cNvSpPr/>
          <p:nvPr/>
        </p:nvSpPr>
        <p:spPr>
          <a:xfrm>
            <a:off x="320040" y="2788920"/>
            <a:ext cx="2697480" cy="320040"/>
          </a:xfrm>
          <a:prstGeom prst="rect">
            <a:avLst/>
          </a:prstGeom>
          <a:solidFill>
            <a:srgbClr val="0D0A1E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8" name="Shape 26"/>
          <p:cNvSpPr/>
          <p:nvPr/>
        </p:nvSpPr>
        <p:spPr>
          <a:xfrm>
            <a:off x="429768" y="2880360"/>
            <a:ext cx="109728" cy="109728"/>
          </a:xfrm>
          <a:prstGeom prst="ellipse">
            <a:avLst/>
          </a:prstGeom>
          <a:solidFill>
            <a:srgbClr val="FF5F57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9" name="Shape 27"/>
          <p:cNvSpPr/>
          <p:nvPr/>
        </p:nvSpPr>
        <p:spPr>
          <a:xfrm>
            <a:off x="594360" y="2880360"/>
            <a:ext cx="109728" cy="109728"/>
          </a:xfrm>
          <a:prstGeom prst="ellipse">
            <a:avLst/>
          </a:prstGeom>
          <a:solidFill>
            <a:srgbClr val="FFBD2E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0" name="Shape 28"/>
          <p:cNvSpPr/>
          <p:nvPr/>
        </p:nvSpPr>
        <p:spPr>
          <a:xfrm>
            <a:off x="758952" y="2880360"/>
            <a:ext cx="109728" cy="109728"/>
          </a:xfrm>
          <a:prstGeom prst="ellipse">
            <a:avLst/>
          </a:prstGeom>
          <a:solidFill>
            <a:srgbClr val="28C840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1" name="Text 29"/>
          <p:cNvSpPr/>
          <p:nvPr/>
        </p:nvSpPr>
        <p:spPr>
          <a:xfrm>
            <a:off x="411480" y="3172968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41D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À propos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411480" y="3502152"/>
            <a:ext cx="24688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A15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Présentation de mission, de l'équipe et des valeurs d'AfriTalent.</a:t>
            </a:r>
            <a:endParaRPr lang="en-US" sz="1400" dirty="0"/>
          </a:p>
        </p:txBody>
      </p:sp>
      <p:sp>
        <p:nvSpPr>
          <p:cNvPr id="33" name="Shape 31"/>
          <p:cNvSpPr/>
          <p:nvPr/>
        </p:nvSpPr>
        <p:spPr>
          <a:xfrm>
            <a:off x="3246120" y="2788920"/>
            <a:ext cx="2697480" cy="1828800"/>
          </a:xfrm>
          <a:prstGeom prst="roundRect">
            <a:avLst>
              <a:gd name="adj" fmla="val 5000"/>
            </a:avLst>
          </a:prstGeom>
          <a:solidFill>
            <a:srgbClr val="EEF2FC"/>
          </a:solidFill>
          <a:ln/>
          <a:effectLst>
            <a:outerShdw blurRad="76200" dist="254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fr-FR" dirty="0"/>
          </a:p>
        </p:txBody>
      </p:sp>
      <p:sp>
        <p:nvSpPr>
          <p:cNvPr id="34" name="Shape 32"/>
          <p:cNvSpPr/>
          <p:nvPr/>
        </p:nvSpPr>
        <p:spPr>
          <a:xfrm>
            <a:off x="3246120" y="2788920"/>
            <a:ext cx="2697480" cy="320040"/>
          </a:xfrm>
          <a:prstGeom prst="rect">
            <a:avLst/>
          </a:prstGeom>
          <a:solidFill>
            <a:srgbClr val="0D0A1E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5" name="Shape 33"/>
          <p:cNvSpPr/>
          <p:nvPr/>
        </p:nvSpPr>
        <p:spPr>
          <a:xfrm>
            <a:off x="3355848" y="2880360"/>
            <a:ext cx="109728" cy="109728"/>
          </a:xfrm>
          <a:prstGeom prst="ellipse">
            <a:avLst/>
          </a:prstGeom>
          <a:solidFill>
            <a:srgbClr val="FF5F57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6" name="Shape 34"/>
          <p:cNvSpPr/>
          <p:nvPr/>
        </p:nvSpPr>
        <p:spPr>
          <a:xfrm>
            <a:off x="3520440" y="2880360"/>
            <a:ext cx="109728" cy="109728"/>
          </a:xfrm>
          <a:prstGeom prst="ellipse">
            <a:avLst/>
          </a:prstGeom>
          <a:solidFill>
            <a:srgbClr val="FFBD2E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7" name="Shape 35"/>
          <p:cNvSpPr/>
          <p:nvPr/>
        </p:nvSpPr>
        <p:spPr>
          <a:xfrm>
            <a:off x="3685032" y="2880360"/>
            <a:ext cx="109728" cy="109728"/>
          </a:xfrm>
          <a:prstGeom prst="ellipse">
            <a:avLst/>
          </a:prstGeom>
          <a:solidFill>
            <a:srgbClr val="28C840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8" name="Text 36"/>
          <p:cNvSpPr/>
          <p:nvPr/>
        </p:nvSpPr>
        <p:spPr>
          <a:xfrm>
            <a:off x="3337560" y="3172968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41D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Blog</a:t>
            </a:r>
            <a:endParaRPr lang="en-US" sz="1600" dirty="0"/>
          </a:p>
        </p:txBody>
      </p:sp>
      <p:sp>
        <p:nvSpPr>
          <p:cNvPr id="39" name="Text 37"/>
          <p:cNvSpPr/>
          <p:nvPr/>
        </p:nvSpPr>
        <p:spPr>
          <a:xfrm>
            <a:off x="3337560" y="3502152"/>
            <a:ext cx="24688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 err="1"/>
              <a:t>Ppages</a:t>
            </a:r>
            <a:r>
              <a:rPr lang="en-US" sz="1400" dirty="0"/>
              <a:t> blog destines à influencer et guider les freelancers</a:t>
            </a:r>
          </a:p>
        </p:txBody>
      </p:sp>
      <p:sp>
        <p:nvSpPr>
          <p:cNvPr id="43" name="Shape 31">
            <a:extLst>
              <a:ext uri="{FF2B5EF4-FFF2-40B4-BE49-F238E27FC236}">
                <a16:creationId xmlns:a16="http://schemas.microsoft.com/office/drawing/2014/main" id="{69705B5B-BAA8-79A8-62F4-C2491F77C134}"/>
              </a:ext>
            </a:extLst>
          </p:cNvPr>
          <p:cNvSpPr/>
          <p:nvPr/>
        </p:nvSpPr>
        <p:spPr>
          <a:xfrm>
            <a:off x="6126482" y="2743200"/>
            <a:ext cx="2697480" cy="1828800"/>
          </a:xfrm>
          <a:prstGeom prst="roundRect">
            <a:avLst>
              <a:gd name="adj" fmla="val 5000"/>
            </a:avLst>
          </a:prstGeom>
          <a:solidFill>
            <a:srgbClr val="EEF2FC"/>
          </a:solidFill>
          <a:ln/>
          <a:effectLst>
            <a:outerShdw blurRad="76200" dist="254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fr-FR" dirty="0"/>
          </a:p>
        </p:txBody>
      </p:sp>
      <p:sp>
        <p:nvSpPr>
          <p:cNvPr id="45" name="Shape 32">
            <a:extLst>
              <a:ext uri="{FF2B5EF4-FFF2-40B4-BE49-F238E27FC236}">
                <a16:creationId xmlns:a16="http://schemas.microsoft.com/office/drawing/2014/main" id="{02387292-8ECE-F299-899E-C524B00831A8}"/>
              </a:ext>
            </a:extLst>
          </p:cNvPr>
          <p:cNvSpPr/>
          <p:nvPr/>
        </p:nvSpPr>
        <p:spPr>
          <a:xfrm>
            <a:off x="6149340" y="2809530"/>
            <a:ext cx="2697480" cy="320040"/>
          </a:xfrm>
          <a:prstGeom prst="rect">
            <a:avLst/>
          </a:prstGeom>
          <a:solidFill>
            <a:srgbClr val="0D0A1E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47" name="Shape 35">
            <a:extLst>
              <a:ext uri="{FF2B5EF4-FFF2-40B4-BE49-F238E27FC236}">
                <a16:creationId xmlns:a16="http://schemas.microsoft.com/office/drawing/2014/main" id="{8A4E7349-9698-D795-BDED-BC7D7E83B999}"/>
              </a:ext>
            </a:extLst>
          </p:cNvPr>
          <p:cNvSpPr/>
          <p:nvPr/>
        </p:nvSpPr>
        <p:spPr>
          <a:xfrm>
            <a:off x="6551170" y="2907574"/>
            <a:ext cx="109728" cy="109728"/>
          </a:xfrm>
          <a:prstGeom prst="ellipse">
            <a:avLst/>
          </a:prstGeom>
          <a:solidFill>
            <a:srgbClr val="28C840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53" name="Shape 34">
            <a:extLst>
              <a:ext uri="{FF2B5EF4-FFF2-40B4-BE49-F238E27FC236}">
                <a16:creationId xmlns:a16="http://schemas.microsoft.com/office/drawing/2014/main" id="{2A8439C0-0FA2-2E4B-242B-1A2D501202E9}"/>
              </a:ext>
            </a:extLst>
          </p:cNvPr>
          <p:cNvSpPr/>
          <p:nvPr/>
        </p:nvSpPr>
        <p:spPr>
          <a:xfrm>
            <a:off x="6375149" y="2897269"/>
            <a:ext cx="109728" cy="109728"/>
          </a:xfrm>
          <a:prstGeom prst="ellipse">
            <a:avLst/>
          </a:prstGeom>
          <a:solidFill>
            <a:srgbClr val="FFBD2E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55" name="Shape 33">
            <a:extLst>
              <a:ext uri="{FF2B5EF4-FFF2-40B4-BE49-F238E27FC236}">
                <a16:creationId xmlns:a16="http://schemas.microsoft.com/office/drawing/2014/main" id="{CB8E9E95-D13E-41CB-9222-F7CDF8BEBF61}"/>
              </a:ext>
            </a:extLst>
          </p:cNvPr>
          <p:cNvSpPr/>
          <p:nvPr/>
        </p:nvSpPr>
        <p:spPr>
          <a:xfrm>
            <a:off x="6190633" y="2899446"/>
            <a:ext cx="109728" cy="109728"/>
          </a:xfrm>
          <a:prstGeom prst="ellipse">
            <a:avLst/>
          </a:prstGeom>
          <a:solidFill>
            <a:srgbClr val="FF5F57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61" name="ZoneTexte 60">
            <a:extLst>
              <a:ext uri="{FF2B5EF4-FFF2-40B4-BE49-F238E27FC236}">
                <a16:creationId xmlns:a16="http://schemas.microsoft.com/office/drawing/2014/main" id="{7B2F6BF8-150D-DC7E-9645-0D7C706EDFF3}"/>
              </a:ext>
            </a:extLst>
          </p:cNvPr>
          <p:cNvSpPr txBox="1"/>
          <p:nvPr/>
        </p:nvSpPr>
        <p:spPr>
          <a:xfrm>
            <a:off x="6149340" y="3153184"/>
            <a:ext cx="4572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en-US" sz="1800" b="1">
                <a:solidFill>
                  <a:srgbClr val="241D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Contact</a:t>
            </a:r>
            <a:endParaRPr lang="en-US" sz="1800" dirty="0"/>
          </a:p>
        </p:txBody>
      </p:sp>
      <p:sp>
        <p:nvSpPr>
          <p:cNvPr id="65" name="ZoneTexte 64">
            <a:extLst>
              <a:ext uri="{FF2B5EF4-FFF2-40B4-BE49-F238E27FC236}">
                <a16:creationId xmlns:a16="http://schemas.microsoft.com/office/drawing/2014/main" id="{4DC26AE7-5B49-3C2E-681D-8DAA4FF06606}"/>
              </a:ext>
            </a:extLst>
          </p:cNvPr>
          <p:cNvSpPr txBox="1"/>
          <p:nvPr/>
        </p:nvSpPr>
        <p:spPr>
          <a:xfrm>
            <a:off x="6126482" y="3724092"/>
            <a:ext cx="3249747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en-US" sz="1400" dirty="0" err="1">
                <a:solidFill>
                  <a:srgbClr val="1A15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Formulaire</a:t>
            </a:r>
            <a:r>
              <a:rPr lang="en-US" sz="1400" dirty="0">
                <a:solidFill>
                  <a:srgbClr val="1A15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de contact </a:t>
            </a:r>
            <a:r>
              <a:rPr lang="en-US" sz="1400" dirty="0" err="1">
                <a:solidFill>
                  <a:srgbClr val="1A15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fonctionnel</a:t>
            </a:r>
            <a:r>
              <a:rPr lang="en-US" sz="1400" dirty="0">
                <a:solidFill>
                  <a:srgbClr val="1A15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et </a:t>
            </a:r>
            <a:r>
              <a:rPr lang="en-US" sz="1400" dirty="0" err="1">
                <a:solidFill>
                  <a:srgbClr val="1A15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informations</a:t>
            </a:r>
            <a:r>
              <a:rPr lang="en-US" sz="1400" dirty="0">
                <a:solidFill>
                  <a:srgbClr val="1A15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de contact.</a:t>
            </a:r>
            <a:endParaRPr lang="en-US" sz="1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20040" y="228600"/>
            <a:ext cx="502920" cy="502920"/>
          </a:xfrm>
          <a:prstGeom prst="ellipse">
            <a:avLst/>
          </a:prstGeom>
          <a:solidFill>
            <a:srgbClr val="241D6B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" name="Text 1"/>
          <p:cNvSpPr/>
          <p:nvPr/>
        </p:nvSpPr>
        <p:spPr>
          <a:xfrm>
            <a:off x="320040" y="2286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8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960120" y="228600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00B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Points techniques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365760" y="914400"/>
            <a:ext cx="4004359" cy="548640"/>
          </a:xfrm>
          <a:prstGeom prst="roundRect">
            <a:avLst>
              <a:gd name="adj" fmla="val 13333"/>
            </a:avLst>
          </a:prstGeom>
          <a:solidFill>
            <a:srgbClr val="EEF2FC"/>
          </a:solidFill>
          <a:ln/>
          <a:effectLst>
            <a:outerShdw blurRad="50800" dist="12700" dir="27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6" name="Shape 4"/>
          <p:cNvSpPr/>
          <p:nvPr/>
        </p:nvSpPr>
        <p:spPr>
          <a:xfrm>
            <a:off x="457200" y="1005840"/>
            <a:ext cx="365760" cy="365760"/>
          </a:xfrm>
          <a:prstGeom prst="ellipse">
            <a:avLst/>
          </a:prstGeom>
          <a:solidFill>
            <a:srgbClr val="241D6B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7" name="Text 5"/>
          <p:cNvSpPr/>
          <p:nvPr/>
        </p:nvSpPr>
        <p:spPr>
          <a:xfrm>
            <a:off x="457200" y="100584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</a:rPr>
              <a:t>JS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960120" y="1024128"/>
            <a:ext cx="4297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A15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JavaScript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365760" y="1581912"/>
            <a:ext cx="4004359" cy="548640"/>
          </a:xfrm>
          <a:prstGeom prst="roundRect">
            <a:avLst>
              <a:gd name="adj" fmla="val 13333"/>
            </a:avLst>
          </a:prstGeom>
          <a:solidFill>
            <a:srgbClr val="EEF2FC"/>
          </a:solidFill>
          <a:ln/>
          <a:effectLst>
            <a:outerShdw blurRad="50800" dist="12700" dir="27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10" name="Shape 8"/>
          <p:cNvSpPr/>
          <p:nvPr/>
        </p:nvSpPr>
        <p:spPr>
          <a:xfrm>
            <a:off x="457200" y="1673352"/>
            <a:ext cx="365760" cy="365760"/>
          </a:xfrm>
          <a:prstGeom prst="ellipse">
            <a:avLst/>
          </a:prstGeom>
          <a:solidFill>
            <a:srgbClr val="241D6B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1" name="Text 9"/>
          <p:cNvSpPr/>
          <p:nvPr/>
        </p:nvSpPr>
        <p:spPr>
          <a:xfrm>
            <a:off x="457200" y="167335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</a:rPr>
              <a:t>🌙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960120" y="1691640"/>
            <a:ext cx="4297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A15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Dark Mode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365760" y="2249424"/>
            <a:ext cx="4004359" cy="548640"/>
          </a:xfrm>
          <a:prstGeom prst="roundRect">
            <a:avLst>
              <a:gd name="adj" fmla="val 13333"/>
            </a:avLst>
          </a:prstGeom>
          <a:solidFill>
            <a:srgbClr val="EEF2FC"/>
          </a:solidFill>
          <a:ln/>
          <a:effectLst>
            <a:outerShdw blurRad="50800" dist="12700" dir="27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14" name="Shape 12"/>
          <p:cNvSpPr/>
          <p:nvPr/>
        </p:nvSpPr>
        <p:spPr>
          <a:xfrm>
            <a:off x="457200" y="2340864"/>
            <a:ext cx="365760" cy="365760"/>
          </a:xfrm>
          <a:prstGeom prst="ellipse">
            <a:avLst/>
          </a:prstGeom>
          <a:solidFill>
            <a:srgbClr val="241D6B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5" name="Text 13"/>
          <p:cNvSpPr/>
          <p:nvPr/>
        </p:nvSpPr>
        <p:spPr>
          <a:xfrm>
            <a:off x="457200" y="234086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</a:rPr>
              <a:t>🔢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960120" y="2359152"/>
            <a:ext cx="4297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A15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Compteurs animés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365760" y="2916936"/>
            <a:ext cx="4004359" cy="548640"/>
          </a:xfrm>
          <a:prstGeom prst="roundRect">
            <a:avLst>
              <a:gd name="adj" fmla="val 13333"/>
            </a:avLst>
          </a:prstGeom>
          <a:solidFill>
            <a:srgbClr val="EEF2FC"/>
          </a:solidFill>
          <a:ln/>
          <a:effectLst>
            <a:outerShdw blurRad="50800" dist="12700" dir="27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18" name="Shape 16"/>
          <p:cNvSpPr/>
          <p:nvPr/>
        </p:nvSpPr>
        <p:spPr>
          <a:xfrm>
            <a:off x="457200" y="3008376"/>
            <a:ext cx="365760" cy="365760"/>
          </a:xfrm>
          <a:prstGeom prst="ellipse">
            <a:avLst/>
          </a:prstGeom>
          <a:solidFill>
            <a:srgbClr val="241D6B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9" name="Text 17"/>
          <p:cNvSpPr/>
          <p:nvPr/>
        </p:nvSpPr>
        <p:spPr>
          <a:xfrm>
            <a:off x="457200" y="300837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</a:rPr>
              <a:t>✅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960120" y="3026664"/>
            <a:ext cx="4297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A15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Validation du formulaire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365760" y="3584448"/>
            <a:ext cx="4004359" cy="548640"/>
          </a:xfrm>
          <a:prstGeom prst="roundRect">
            <a:avLst>
              <a:gd name="adj" fmla="val 13333"/>
            </a:avLst>
          </a:prstGeom>
          <a:solidFill>
            <a:srgbClr val="EEF2FC"/>
          </a:solidFill>
          <a:ln/>
          <a:effectLst>
            <a:outerShdw blurRad="50800" dist="12700" dir="27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22" name="Shape 20"/>
          <p:cNvSpPr/>
          <p:nvPr/>
        </p:nvSpPr>
        <p:spPr>
          <a:xfrm>
            <a:off x="457200" y="3675888"/>
            <a:ext cx="365760" cy="365760"/>
          </a:xfrm>
          <a:prstGeom prst="ellipse">
            <a:avLst/>
          </a:prstGeom>
          <a:solidFill>
            <a:srgbClr val="241D6B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3" name="Text 21"/>
          <p:cNvSpPr/>
          <p:nvPr/>
        </p:nvSpPr>
        <p:spPr>
          <a:xfrm>
            <a:off x="457200" y="367588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</a:rPr>
              <a:t>🔍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960120" y="3694176"/>
            <a:ext cx="4297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A15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Recherche / Filtres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365760" y="4251960"/>
            <a:ext cx="4004359" cy="548640"/>
          </a:xfrm>
          <a:prstGeom prst="roundRect">
            <a:avLst>
              <a:gd name="adj" fmla="val 13333"/>
            </a:avLst>
          </a:prstGeom>
          <a:solidFill>
            <a:srgbClr val="EEF2FC"/>
          </a:solidFill>
          <a:ln/>
          <a:effectLst>
            <a:outerShdw blurRad="50800" dist="12700" dir="27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26" name="Shape 24"/>
          <p:cNvSpPr/>
          <p:nvPr/>
        </p:nvSpPr>
        <p:spPr>
          <a:xfrm>
            <a:off x="457200" y="4343400"/>
            <a:ext cx="365760" cy="365760"/>
          </a:xfrm>
          <a:prstGeom prst="ellipse">
            <a:avLst/>
          </a:prstGeom>
          <a:solidFill>
            <a:srgbClr val="241D6B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7" name="Text 25"/>
          <p:cNvSpPr/>
          <p:nvPr/>
        </p:nvSpPr>
        <p:spPr>
          <a:xfrm>
            <a:off x="457200" y="434340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</a:rPr>
              <a:t>✨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960120" y="4361688"/>
            <a:ext cx="4297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A15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Animations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5760720" y="2286000"/>
            <a:ext cx="29260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7200" dirty="0"/>
          </a:p>
        </p:txBody>
      </p:sp>
      <p:sp>
        <p:nvSpPr>
          <p:cNvPr id="32" name="Shape 23">
            <a:extLst>
              <a:ext uri="{FF2B5EF4-FFF2-40B4-BE49-F238E27FC236}">
                <a16:creationId xmlns:a16="http://schemas.microsoft.com/office/drawing/2014/main" id="{75E0E913-2277-FB09-F930-5225CC921F18}"/>
              </a:ext>
            </a:extLst>
          </p:cNvPr>
          <p:cNvSpPr/>
          <p:nvPr/>
        </p:nvSpPr>
        <p:spPr>
          <a:xfrm>
            <a:off x="5140234" y="900684"/>
            <a:ext cx="3825636" cy="548640"/>
          </a:xfrm>
          <a:prstGeom prst="roundRect">
            <a:avLst>
              <a:gd name="adj" fmla="val 13333"/>
            </a:avLst>
          </a:prstGeom>
          <a:solidFill>
            <a:srgbClr val="EEF2FC"/>
          </a:solidFill>
          <a:ln/>
          <a:effectLst>
            <a:outerShdw blurRad="50800" dist="12700" dir="27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fr-FR" dirty="0"/>
          </a:p>
        </p:txBody>
      </p:sp>
      <p:sp>
        <p:nvSpPr>
          <p:cNvPr id="31" name="ZoneTexte 30">
            <a:extLst>
              <a:ext uri="{FF2B5EF4-FFF2-40B4-BE49-F238E27FC236}">
                <a16:creationId xmlns:a16="http://schemas.microsoft.com/office/drawing/2014/main" id="{D63D7BAC-6A64-CD5E-2209-D714B648AB26}"/>
              </a:ext>
            </a:extLst>
          </p:cNvPr>
          <p:cNvSpPr txBox="1"/>
          <p:nvPr/>
        </p:nvSpPr>
        <p:spPr>
          <a:xfrm>
            <a:off x="5140234" y="1017062"/>
            <a:ext cx="4572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en-US" sz="1800" dirty="0">
                <a:solidFill>
                  <a:srgbClr val="1A15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    Back-to top</a:t>
            </a:r>
            <a:endParaRPr lang="en-US" sz="1400" dirty="0"/>
          </a:p>
        </p:txBody>
      </p:sp>
      <p:sp>
        <p:nvSpPr>
          <p:cNvPr id="38" name="Shape 0">
            <a:extLst>
              <a:ext uri="{FF2B5EF4-FFF2-40B4-BE49-F238E27FC236}">
                <a16:creationId xmlns:a16="http://schemas.microsoft.com/office/drawing/2014/main" id="{E18E71CD-9F7A-E37C-659C-D7A8E125C7F0}"/>
              </a:ext>
            </a:extLst>
          </p:cNvPr>
          <p:cNvSpPr/>
          <p:nvPr/>
        </p:nvSpPr>
        <p:spPr>
          <a:xfrm>
            <a:off x="5210299" y="1036766"/>
            <a:ext cx="312324" cy="356378"/>
          </a:xfrm>
          <a:prstGeom prst="ellipse">
            <a:avLst/>
          </a:prstGeom>
          <a:solidFill>
            <a:srgbClr val="241D6B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40" name="ZoneTexte 39">
            <a:extLst>
              <a:ext uri="{FF2B5EF4-FFF2-40B4-BE49-F238E27FC236}">
                <a16:creationId xmlns:a16="http://schemas.microsoft.com/office/drawing/2014/main" id="{53B89B5D-25F6-60F5-F28C-EDBB61B9D8C0}"/>
              </a:ext>
            </a:extLst>
          </p:cNvPr>
          <p:cNvSpPr txBox="1"/>
          <p:nvPr/>
        </p:nvSpPr>
        <p:spPr>
          <a:xfrm>
            <a:off x="5140234" y="1056813"/>
            <a:ext cx="4857008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1400" dirty="0">
                <a:solidFill>
                  <a:srgbClr val="1A15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🔙</a:t>
            </a:r>
            <a:endParaRPr lang="fr-FR" sz="14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20040" y="228600"/>
            <a:ext cx="502920" cy="502920"/>
          </a:xfrm>
          <a:prstGeom prst="ellipse">
            <a:avLst/>
          </a:prstGeom>
          <a:solidFill>
            <a:srgbClr val="241D6B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" name="Text 1"/>
          <p:cNvSpPr/>
          <p:nvPr/>
        </p:nvSpPr>
        <p:spPr>
          <a:xfrm>
            <a:off x="320040" y="2286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9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960120" y="228600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00B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Technologies utilisées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279070" y="834390"/>
            <a:ext cx="4114800" cy="2194560"/>
          </a:xfrm>
          <a:prstGeom prst="roundRect">
            <a:avLst>
              <a:gd name="adj" fmla="val 5000"/>
            </a:avLst>
          </a:prstGeom>
          <a:solidFill>
            <a:srgbClr val="EEF2FC"/>
          </a:solidFill>
          <a:ln/>
          <a:effectLst>
            <a:outerShdw blurRad="63500" dist="25400" dir="2700000" algn="bl" rotWithShape="0">
              <a:srgbClr val="000000">
                <a:alpha val="9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6" name="Shape 4"/>
          <p:cNvSpPr/>
          <p:nvPr/>
        </p:nvSpPr>
        <p:spPr>
          <a:xfrm>
            <a:off x="457200" y="992124"/>
            <a:ext cx="640080" cy="425196"/>
          </a:xfrm>
          <a:prstGeom prst="ellipse">
            <a:avLst/>
          </a:prstGeom>
          <a:solidFill>
            <a:srgbClr val="7952B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7" name="Text 5"/>
          <p:cNvSpPr/>
          <p:nvPr/>
        </p:nvSpPr>
        <p:spPr>
          <a:xfrm>
            <a:off x="457200" y="960120"/>
            <a:ext cx="64008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</a:rPr>
              <a:t>B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1188720" y="1005840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7952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Bootstrap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640080" y="1444752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15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</a:t>
            </a:r>
            <a:r>
              <a:rPr lang="en-US" sz="1400" dirty="0">
                <a:solidFill>
                  <a:srgbClr val="1A15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Navbar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640080" y="1719072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15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</a:t>
            </a:r>
            <a:r>
              <a:rPr lang="en-US" sz="1400" dirty="0">
                <a:solidFill>
                  <a:srgbClr val="1A15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Cards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640080" y="1993392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15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r>
              <a:rPr lang="en-US" sz="1400" dirty="0">
                <a:solidFill>
                  <a:srgbClr val="1A15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Carousel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640080" y="2267712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A15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Accordion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640080" y="2542032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15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</a:t>
            </a:r>
            <a:r>
              <a:rPr lang="en-US" sz="1400" dirty="0">
                <a:solidFill>
                  <a:srgbClr val="1A15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Grid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274320" y="3268980"/>
            <a:ext cx="4114800" cy="1645920"/>
          </a:xfrm>
          <a:prstGeom prst="roundRect">
            <a:avLst>
              <a:gd name="adj" fmla="val 6667"/>
            </a:avLst>
          </a:prstGeom>
          <a:solidFill>
            <a:srgbClr val="EEF2FC"/>
          </a:solidFill>
          <a:ln/>
          <a:effectLst>
            <a:outerShdw blurRad="63500" dist="25400" dir="2700000" algn="bl" rotWithShape="0">
              <a:srgbClr val="000000">
                <a:alpha val="9000"/>
              </a:srgbClr>
            </a:outerShdw>
          </a:effectLst>
        </p:spPr>
        <p:txBody>
          <a:bodyPr/>
          <a:lstStyle/>
          <a:p>
            <a:endParaRPr lang="fr-FR" dirty="0"/>
          </a:p>
        </p:txBody>
      </p:sp>
      <p:sp>
        <p:nvSpPr>
          <p:cNvPr id="15" name="Shape 13"/>
          <p:cNvSpPr/>
          <p:nvPr/>
        </p:nvSpPr>
        <p:spPr>
          <a:xfrm>
            <a:off x="457200" y="3291840"/>
            <a:ext cx="640080" cy="438912"/>
          </a:xfrm>
          <a:prstGeom prst="ellipse">
            <a:avLst/>
          </a:prstGeom>
          <a:solidFill>
            <a:srgbClr val="264DE4"/>
          </a:solidFill>
          <a:ln/>
        </p:spPr>
        <p:txBody>
          <a:bodyPr/>
          <a:lstStyle/>
          <a:p>
            <a:endParaRPr lang="fr-FR" dirty="0"/>
          </a:p>
        </p:txBody>
      </p:sp>
      <p:sp>
        <p:nvSpPr>
          <p:cNvPr id="16" name="Text 14"/>
          <p:cNvSpPr/>
          <p:nvPr/>
        </p:nvSpPr>
        <p:spPr>
          <a:xfrm>
            <a:off x="457200" y="3090672"/>
            <a:ext cx="64008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CSS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1188720" y="3278124"/>
            <a:ext cx="27432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64D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CSS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640080" y="3749040"/>
            <a:ext cx="3474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15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</a:t>
            </a:r>
            <a:r>
              <a:rPr lang="en-US" sz="1400" dirty="0">
                <a:solidFill>
                  <a:srgbClr val="1A15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Variables CSS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640080" y="3950208"/>
            <a:ext cx="3474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15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</a:t>
            </a:r>
            <a:r>
              <a:rPr lang="en-US" sz="1400" dirty="0">
                <a:solidFill>
                  <a:srgbClr val="1A15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Bento Grid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640080" y="4151376"/>
            <a:ext cx="3474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15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</a:t>
            </a:r>
            <a:r>
              <a:rPr lang="en-US" sz="1400" dirty="0">
                <a:solidFill>
                  <a:srgbClr val="1A15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Responsive Design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640080" y="4352544"/>
            <a:ext cx="3474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15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</a:t>
            </a:r>
            <a:r>
              <a:rPr lang="en-US" sz="1400" dirty="0">
                <a:solidFill>
                  <a:srgbClr val="1A15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Flexbox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640080" y="4553712"/>
            <a:ext cx="3474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15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</a:t>
            </a:r>
            <a:r>
              <a:rPr lang="en-US" sz="1400" dirty="0">
                <a:solidFill>
                  <a:srgbClr val="1A15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Grid Layout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4846320" y="109728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20040" y="228600"/>
            <a:ext cx="502920" cy="502920"/>
          </a:xfrm>
          <a:prstGeom prst="ellipse">
            <a:avLst/>
          </a:prstGeom>
          <a:solidFill>
            <a:srgbClr val="241D6B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" name="Text 1"/>
          <p:cNvSpPr/>
          <p:nvPr/>
        </p:nvSpPr>
        <p:spPr>
          <a:xfrm>
            <a:off x="320040" y="2286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10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960120" y="228600"/>
            <a:ext cx="3657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00B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365760" y="80467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6677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Gestion du projet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365760" y="1188720"/>
            <a:ext cx="2246811" cy="658368"/>
          </a:xfrm>
          <a:prstGeom prst="roundRect">
            <a:avLst>
              <a:gd name="adj" fmla="val 13889"/>
            </a:avLst>
          </a:prstGeom>
          <a:solidFill>
            <a:srgbClr val="EEF2FC"/>
          </a:solidFill>
          <a:ln/>
          <a:effectLst>
            <a:outerShdw blurRad="50800" dist="12700" dir="27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1280160"/>
            <a:ext cx="365760" cy="36576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005840" y="1280160"/>
            <a:ext cx="3657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A15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commits réalisés</a:t>
            </a:r>
            <a:endParaRPr lang="en-US" sz="1600" dirty="0"/>
          </a:p>
        </p:txBody>
      </p:sp>
      <p:sp>
        <p:nvSpPr>
          <p:cNvPr id="9" name="Shape 6"/>
          <p:cNvSpPr/>
          <p:nvPr/>
        </p:nvSpPr>
        <p:spPr>
          <a:xfrm>
            <a:off x="365760" y="2011680"/>
            <a:ext cx="3315591" cy="658368"/>
          </a:xfrm>
          <a:prstGeom prst="roundRect">
            <a:avLst>
              <a:gd name="adj" fmla="val 13889"/>
            </a:avLst>
          </a:prstGeom>
          <a:solidFill>
            <a:srgbClr val="EEF2FC"/>
          </a:solidFill>
          <a:ln/>
          <a:effectLst>
            <a:outerShdw blurRad="50800" dist="12700" dir="27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2103120"/>
            <a:ext cx="365760" cy="36576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1005840" y="2103120"/>
            <a:ext cx="3657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A15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Messages de commits explicites</a:t>
            </a:r>
            <a:endParaRPr lang="en-US" sz="1600" dirty="0"/>
          </a:p>
        </p:txBody>
      </p:sp>
      <p:sp>
        <p:nvSpPr>
          <p:cNvPr id="12" name="Shape 8"/>
          <p:cNvSpPr/>
          <p:nvPr/>
        </p:nvSpPr>
        <p:spPr>
          <a:xfrm>
            <a:off x="365760" y="2834640"/>
            <a:ext cx="2959331" cy="658368"/>
          </a:xfrm>
          <a:prstGeom prst="roundRect">
            <a:avLst>
              <a:gd name="adj" fmla="val 13889"/>
            </a:avLst>
          </a:prstGeom>
          <a:solidFill>
            <a:srgbClr val="EEF2FC"/>
          </a:solidFill>
          <a:ln/>
          <a:effectLst>
            <a:outerShdw blurRad="50800" dist="12700" dir="27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pic>
        <p:nvPicPr>
          <p:cNvPr id="13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2926080"/>
            <a:ext cx="365760" cy="365760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1005840" y="2926080"/>
            <a:ext cx="3657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A15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Utilisation de Git et GitHub</a:t>
            </a:r>
            <a:endParaRPr lang="en-US" sz="1600" dirty="0"/>
          </a:p>
        </p:txBody>
      </p:sp>
      <p:sp>
        <p:nvSpPr>
          <p:cNvPr id="16" name="Text 11"/>
          <p:cNvSpPr/>
          <p:nvPr/>
        </p:nvSpPr>
        <p:spPr>
          <a:xfrm>
            <a:off x="5212080" y="914400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000" dirty="0"/>
          </a:p>
        </p:txBody>
      </p:sp>
      <p:sp>
        <p:nvSpPr>
          <p:cNvPr id="17" name="Text 12"/>
          <p:cNvSpPr/>
          <p:nvPr/>
        </p:nvSpPr>
        <p:spPr>
          <a:xfrm>
            <a:off x="5166360" y="1280160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900" dirty="0"/>
          </a:p>
        </p:txBody>
      </p:sp>
      <p:sp>
        <p:nvSpPr>
          <p:cNvPr id="18" name="Text 13"/>
          <p:cNvSpPr/>
          <p:nvPr/>
        </p:nvSpPr>
        <p:spPr>
          <a:xfrm>
            <a:off x="7955280" y="1280160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800" dirty="0"/>
          </a:p>
        </p:txBody>
      </p:sp>
      <p:sp>
        <p:nvSpPr>
          <p:cNvPr id="19" name="Text 14"/>
          <p:cNvSpPr/>
          <p:nvPr/>
        </p:nvSpPr>
        <p:spPr>
          <a:xfrm>
            <a:off x="5166360" y="1554480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900" dirty="0"/>
          </a:p>
        </p:txBody>
      </p:sp>
      <p:sp>
        <p:nvSpPr>
          <p:cNvPr id="20" name="Text 15"/>
          <p:cNvSpPr/>
          <p:nvPr/>
        </p:nvSpPr>
        <p:spPr>
          <a:xfrm>
            <a:off x="7955280" y="1554480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800" dirty="0"/>
          </a:p>
        </p:txBody>
      </p:sp>
      <p:sp>
        <p:nvSpPr>
          <p:cNvPr id="21" name="Text 16"/>
          <p:cNvSpPr/>
          <p:nvPr/>
        </p:nvSpPr>
        <p:spPr>
          <a:xfrm>
            <a:off x="5166360" y="1828800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900" dirty="0"/>
          </a:p>
        </p:txBody>
      </p:sp>
      <p:sp>
        <p:nvSpPr>
          <p:cNvPr id="22" name="Text 17"/>
          <p:cNvSpPr/>
          <p:nvPr/>
        </p:nvSpPr>
        <p:spPr>
          <a:xfrm>
            <a:off x="7955280" y="1828800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800" dirty="0"/>
          </a:p>
        </p:txBody>
      </p:sp>
      <p:sp>
        <p:nvSpPr>
          <p:cNvPr id="23" name="Text 18"/>
          <p:cNvSpPr/>
          <p:nvPr/>
        </p:nvSpPr>
        <p:spPr>
          <a:xfrm>
            <a:off x="5166360" y="2103120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900" dirty="0"/>
          </a:p>
        </p:txBody>
      </p:sp>
      <p:sp>
        <p:nvSpPr>
          <p:cNvPr id="24" name="Text 19"/>
          <p:cNvSpPr/>
          <p:nvPr/>
        </p:nvSpPr>
        <p:spPr>
          <a:xfrm>
            <a:off x="7955280" y="2103120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800" dirty="0"/>
          </a:p>
        </p:txBody>
      </p:sp>
      <p:sp>
        <p:nvSpPr>
          <p:cNvPr id="25" name="Text 20"/>
          <p:cNvSpPr/>
          <p:nvPr/>
        </p:nvSpPr>
        <p:spPr>
          <a:xfrm>
            <a:off x="5166360" y="2377440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900" dirty="0"/>
          </a:p>
        </p:txBody>
      </p:sp>
      <p:sp>
        <p:nvSpPr>
          <p:cNvPr id="26" name="Text 21"/>
          <p:cNvSpPr/>
          <p:nvPr/>
        </p:nvSpPr>
        <p:spPr>
          <a:xfrm>
            <a:off x="7955280" y="2377440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800" dirty="0"/>
          </a:p>
        </p:txBody>
      </p:sp>
      <p:sp>
        <p:nvSpPr>
          <p:cNvPr id="27" name="Text 22"/>
          <p:cNvSpPr/>
          <p:nvPr/>
        </p:nvSpPr>
        <p:spPr>
          <a:xfrm>
            <a:off x="5166360" y="2651760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900" dirty="0"/>
          </a:p>
        </p:txBody>
      </p:sp>
      <p:sp>
        <p:nvSpPr>
          <p:cNvPr id="28" name="Text 23"/>
          <p:cNvSpPr/>
          <p:nvPr/>
        </p:nvSpPr>
        <p:spPr>
          <a:xfrm>
            <a:off x="7955280" y="2651760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800" dirty="0"/>
          </a:p>
        </p:txBody>
      </p:sp>
      <p:sp>
        <p:nvSpPr>
          <p:cNvPr id="29" name="Text 24"/>
          <p:cNvSpPr/>
          <p:nvPr/>
        </p:nvSpPr>
        <p:spPr>
          <a:xfrm>
            <a:off x="5166360" y="2926080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900" dirty="0"/>
          </a:p>
        </p:txBody>
      </p:sp>
      <p:sp>
        <p:nvSpPr>
          <p:cNvPr id="30" name="Text 25"/>
          <p:cNvSpPr/>
          <p:nvPr/>
        </p:nvSpPr>
        <p:spPr>
          <a:xfrm>
            <a:off x="7955280" y="2926080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800" dirty="0"/>
          </a:p>
        </p:txBody>
      </p:sp>
      <p:sp>
        <p:nvSpPr>
          <p:cNvPr id="31" name="Text 26"/>
          <p:cNvSpPr/>
          <p:nvPr/>
        </p:nvSpPr>
        <p:spPr>
          <a:xfrm>
            <a:off x="5166360" y="3200400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900" dirty="0"/>
          </a:p>
        </p:txBody>
      </p:sp>
      <p:sp>
        <p:nvSpPr>
          <p:cNvPr id="32" name="Text 27"/>
          <p:cNvSpPr/>
          <p:nvPr/>
        </p:nvSpPr>
        <p:spPr>
          <a:xfrm>
            <a:off x="7955280" y="3200400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800" dirty="0"/>
          </a:p>
        </p:txBody>
      </p:sp>
      <p:sp>
        <p:nvSpPr>
          <p:cNvPr id="33" name="Text 28"/>
          <p:cNvSpPr/>
          <p:nvPr/>
        </p:nvSpPr>
        <p:spPr>
          <a:xfrm>
            <a:off x="5166360" y="3474720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900" dirty="0"/>
          </a:p>
        </p:txBody>
      </p:sp>
      <p:sp>
        <p:nvSpPr>
          <p:cNvPr id="34" name="Text 29"/>
          <p:cNvSpPr/>
          <p:nvPr/>
        </p:nvSpPr>
        <p:spPr>
          <a:xfrm>
            <a:off x="7955280" y="3474720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800" dirty="0"/>
          </a:p>
        </p:txBody>
      </p:sp>
      <p:sp>
        <p:nvSpPr>
          <p:cNvPr id="35" name="Text 30"/>
          <p:cNvSpPr/>
          <p:nvPr/>
        </p:nvSpPr>
        <p:spPr>
          <a:xfrm>
            <a:off x="365760" y="44805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000" dirty="0"/>
          </a:p>
        </p:txBody>
      </p:sp>
      <p:sp>
        <p:nvSpPr>
          <p:cNvPr id="36" name="Text 31"/>
          <p:cNvSpPr/>
          <p:nvPr/>
        </p:nvSpPr>
        <p:spPr>
          <a:xfrm>
            <a:off x="365760" y="477316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000" dirty="0"/>
          </a:p>
        </p:txBody>
      </p:sp>
      <p:pic>
        <p:nvPicPr>
          <p:cNvPr id="38" name="Image 37">
            <a:extLst>
              <a:ext uri="{FF2B5EF4-FFF2-40B4-BE49-F238E27FC236}">
                <a16:creationId xmlns:a16="http://schemas.microsoft.com/office/drawing/2014/main" id="{6D855755-8085-DCF7-A0CF-F99D0E6CA67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18511" y="480060"/>
            <a:ext cx="5267893" cy="3848545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20040" y="228600"/>
            <a:ext cx="502920" cy="502920"/>
          </a:xfrm>
          <a:prstGeom prst="ellipse">
            <a:avLst/>
          </a:prstGeom>
          <a:solidFill>
            <a:srgbClr val="241D6B"/>
          </a:solidFill>
          <a:ln/>
        </p:spPr>
        <p:txBody>
          <a:bodyPr/>
          <a:lstStyle/>
          <a:p>
            <a:endParaRPr lang="fr-FR" sz="2400"/>
          </a:p>
        </p:txBody>
      </p:sp>
      <p:sp>
        <p:nvSpPr>
          <p:cNvPr id="3" name="Text 1"/>
          <p:cNvSpPr/>
          <p:nvPr/>
        </p:nvSpPr>
        <p:spPr>
          <a:xfrm>
            <a:off x="320040" y="2286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11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960120" y="228600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00B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Difficultés rencontrées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365760" y="958427"/>
            <a:ext cx="3474720" cy="1074920"/>
          </a:xfrm>
          <a:prstGeom prst="roundRect">
            <a:avLst>
              <a:gd name="adj" fmla="val 8000"/>
            </a:avLst>
          </a:prstGeom>
          <a:solidFill>
            <a:schemeClr val="accent2">
              <a:lumMod val="60000"/>
              <a:lumOff val="40000"/>
            </a:schemeClr>
          </a:solidFill>
          <a:ln/>
          <a:effectLst>
            <a:outerShdw blurRad="76200" dist="254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fr-FR" sz="2400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1280160"/>
            <a:ext cx="502920" cy="50292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502920" y="938101"/>
            <a:ext cx="3200400" cy="433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Difficulté 1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1143000" y="1325880"/>
            <a:ext cx="2560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Rebase Git complexe</a:t>
            </a:r>
            <a:endParaRPr lang="en-US" sz="1600" dirty="0"/>
          </a:p>
        </p:txBody>
      </p:sp>
      <p:sp>
        <p:nvSpPr>
          <p:cNvPr id="9" name="Shape 6"/>
          <p:cNvSpPr/>
          <p:nvPr/>
        </p:nvSpPr>
        <p:spPr>
          <a:xfrm>
            <a:off x="4023360" y="1600200"/>
            <a:ext cx="640080" cy="0"/>
          </a:xfrm>
          <a:prstGeom prst="line">
            <a:avLst/>
          </a:prstGeom>
          <a:noFill/>
          <a:ln w="25400">
            <a:solidFill>
              <a:srgbClr val="241D6B"/>
            </a:solidFill>
            <a:prstDash val="solid"/>
          </a:ln>
        </p:spPr>
        <p:txBody>
          <a:bodyPr/>
          <a:lstStyle/>
          <a:p>
            <a:endParaRPr lang="fr-FR" sz="2400"/>
          </a:p>
        </p:txBody>
      </p:sp>
      <p:sp>
        <p:nvSpPr>
          <p:cNvPr id="10" name="Shape 7"/>
          <p:cNvSpPr/>
          <p:nvPr/>
        </p:nvSpPr>
        <p:spPr>
          <a:xfrm>
            <a:off x="4800600" y="844211"/>
            <a:ext cx="3840480" cy="1189135"/>
          </a:xfrm>
          <a:prstGeom prst="roundRect">
            <a:avLst>
              <a:gd name="adj" fmla="val 8000"/>
            </a:avLst>
          </a:prstGeom>
          <a:solidFill>
            <a:schemeClr val="accent1">
              <a:lumMod val="40000"/>
              <a:lumOff val="60000"/>
            </a:schemeClr>
          </a:solidFill>
          <a:ln/>
          <a:effectLst>
            <a:outerShdw blurRad="76200" dist="254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fr-FR" sz="2400"/>
          </a:p>
        </p:txBody>
      </p:sp>
      <p:sp>
        <p:nvSpPr>
          <p:cNvPr id="11" name="Text 8"/>
          <p:cNvSpPr/>
          <p:nvPr/>
        </p:nvSpPr>
        <p:spPr>
          <a:xfrm>
            <a:off x="4983480" y="912706"/>
            <a:ext cx="3474720" cy="45889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665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Solution</a:t>
            </a:r>
            <a:endParaRPr lang="en-US" sz="1400" dirty="0"/>
          </a:p>
        </p:txBody>
      </p:sp>
      <p:sp>
        <p:nvSpPr>
          <p:cNvPr id="12" name="Text 9"/>
          <p:cNvSpPr/>
          <p:nvPr/>
        </p:nvSpPr>
        <p:spPr>
          <a:xfrm>
            <a:off x="4983480" y="958426"/>
            <a:ext cx="3474720" cy="12818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4532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Utilisation de :</a:t>
            </a:r>
            <a:endParaRPr lang="en-US" sz="1600" dirty="0"/>
          </a:p>
          <a:p>
            <a:pPr marL="0" indent="0">
              <a:buNone/>
            </a:pPr>
            <a:r>
              <a:rPr lang="en-US" sz="1600" b="1" dirty="0">
                <a:solidFill>
                  <a:srgbClr val="14532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rebase -i</a:t>
            </a:r>
            <a:endParaRPr lang="en-US" sz="1600" dirty="0"/>
          </a:p>
        </p:txBody>
      </p:sp>
      <p:sp>
        <p:nvSpPr>
          <p:cNvPr id="13" name="Shape 10"/>
          <p:cNvSpPr/>
          <p:nvPr/>
        </p:nvSpPr>
        <p:spPr>
          <a:xfrm>
            <a:off x="320040" y="2241121"/>
            <a:ext cx="3474720" cy="1137377"/>
          </a:xfrm>
          <a:prstGeom prst="roundRect">
            <a:avLst>
              <a:gd name="adj" fmla="val 8000"/>
            </a:avLst>
          </a:prstGeom>
          <a:solidFill>
            <a:schemeClr val="accent2">
              <a:lumMod val="60000"/>
              <a:lumOff val="40000"/>
            </a:schemeClr>
          </a:solidFill>
          <a:ln/>
          <a:effectLst>
            <a:outerShdw blurRad="76200" dist="254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fr-FR" sz="2400"/>
          </a:p>
        </p:txBody>
      </p:sp>
      <p:pic>
        <p:nvPicPr>
          <p:cNvPr id="14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2629741"/>
            <a:ext cx="502920" cy="502920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502920" y="1600200"/>
            <a:ext cx="320040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Difficulté 2</a:t>
            </a:r>
            <a:endParaRPr lang="en-US" sz="1400" dirty="0"/>
          </a:p>
        </p:txBody>
      </p:sp>
      <p:sp>
        <p:nvSpPr>
          <p:cNvPr id="16" name="Text 12"/>
          <p:cNvSpPr/>
          <p:nvPr/>
        </p:nvSpPr>
        <p:spPr>
          <a:xfrm>
            <a:off x="1143000" y="2148834"/>
            <a:ext cx="2560320" cy="150876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Responsive mobile</a:t>
            </a:r>
            <a:endParaRPr lang="en-US" sz="1600" dirty="0"/>
          </a:p>
        </p:txBody>
      </p:sp>
      <p:sp>
        <p:nvSpPr>
          <p:cNvPr id="17" name="Shape 13"/>
          <p:cNvSpPr/>
          <p:nvPr/>
        </p:nvSpPr>
        <p:spPr>
          <a:xfrm>
            <a:off x="4023360" y="2691245"/>
            <a:ext cx="640080" cy="0"/>
          </a:xfrm>
          <a:prstGeom prst="line">
            <a:avLst/>
          </a:prstGeom>
          <a:noFill/>
          <a:ln w="25400">
            <a:solidFill>
              <a:srgbClr val="241D6B"/>
            </a:solidFill>
            <a:prstDash val="solid"/>
          </a:ln>
        </p:spPr>
        <p:txBody>
          <a:bodyPr/>
          <a:lstStyle/>
          <a:p>
            <a:endParaRPr lang="fr-FR" sz="2400"/>
          </a:p>
        </p:txBody>
      </p:sp>
      <p:sp>
        <p:nvSpPr>
          <p:cNvPr id="18" name="Shape 14"/>
          <p:cNvSpPr/>
          <p:nvPr/>
        </p:nvSpPr>
        <p:spPr>
          <a:xfrm>
            <a:off x="4800600" y="2148834"/>
            <a:ext cx="3840480" cy="1258486"/>
          </a:xfrm>
          <a:prstGeom prst="roundRect">
            <a:avLst>
              <a:gd name="adj" fmla="val 8000"/>
            </a:avLst>
          </a:prstGeom>
          <a:solidFill>
            <a:schemeClr val="accent1">
              <a:lumMod val="40000"/>
              <a:lumOff val="60000"/>
            </a:schemeClr>
          </a:solidFill>
          <a:ln/>
          <a:effectLst>
            <a:outerShdw blurRad="76200" dist="254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fr-FR" sz="2400"/>
          </a:p>
        </p:txBody>
      </p:sp>
      <p:sp>
        <p:nvSpPr>
          <p:cNvPr id="19" name="Text 15"/>
          <p:cNvSpPr/>
          <p:nvPr/>
        </p:nvSpPr>
        <p:spPr>
          <a:xfrm>
            <a:off x="4983480" y="1456156"/>
            <a:ext cx="3474720" cy="17442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665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Solution</a:t>
            </a:r>
            <a:endParaRPr lang="en-US" sz="1400" dirty="0"/>
          </a:p>
        </p:txBody>
      </p:sp>
      <p:sp>
        <p:nvSpPr>
          <p:cNvPr id="20" name="Text 16"/>
          <p:cNvSpPr/>
          <p:nvPr/>
        </p:nvSpPr>
        <p:spPr>
          <a:xfrm>
            <a:off x="4983480" y="1682020"/>
            <a:ext cx="3474720" cy="238705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4532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Utilisation des Media Queries et des classes Bootstrap.</a:t>
            </a:r>
            <a:endParaRPr lang="en-US" sz="1600" dirty="0"/>
          </a:p>
        </p:txBody>
      </p:sp>
      <p:sp>
        <p:nvSpPr>
          <p:cNvPr id="22" name="Shape 3">
            <a:extLst>
              <a:ext uri="{FF2B5EF4-FFF2-40B4-BE49-F238E27FC236}">
                <a16:creationId xmlns:a16="http://schemas.microsoft.com/office/drawing/2014/main" id="{33AF7DD0-7F18-F30C-E84D-1AABEC06CFC2}"/>
              </a:ext>
            </a:extLst>
          </p:cNvPr>
          <p:cNvSpPr/>
          <p:nvPr/>
        </p:nvSpPr>
        <p:spPr>
          <a:xfrm>
            <a:off x="365760" y="3657600"/>
            <a:ext cx="3474720" cy="1172157"/>
          </a:xfrm>
          <a:prstGeom prst="roundRect">
            <a:avLst>
              <a:gd name="adj" fmla="val 8000"/>
            </a:avLst>
          </a:prstGeom>
          <a:solidFill>
            <a:schemeClr val="accent2">
              <a:lumMod val="60000"/>
              <a:lumOff val="40000"/>
            </a:schemeClr>
          </a:solidFill>
          <a:ln/>
          <a:effectLst>
            <a:outerShdw blurRad="76200" dist="254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fr-FR" sz="2400"/>
          </a:p>
        </p:txBody>
      </p:sp>
      <p:sp>
        <p:nvSpPr>
          <p:cNvPr id="26" name="ZoneTexte 25">
            <a:extLst>
              <a:ext uri="{FF2B5EF4-FFF2-40B4-BE49-F238E27FC236}">
                <a16:creationId xmlns:a16="http://schemas.microsoft.com/office/drawing/2014/main" id="{5B049B22-EA19-4621-92D7-D564BC03C1DA}"/>
              </a:ext>
            </a:extLst>
          </p:cNvPr>
          <p:cNvSpPr txBox="1"/>
          <p:nvPr/>
        </p:nvSpPr>
        <p:spPr>
          <a:xfrm>
            <a:off x="1029591" y="4153635"/>
            <a:ext cx="4572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en-US" sz="1800" b="1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Commits </a:t>
            </a:r>
            <a:r>
              <a:rPr lang="en-US" sz="1800" b="1" dirty="0" err="1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desordonnés</a:t>
            </a:r>
            <a:endParaRPr lang="en-US" sz="1800" dirty="0"/>
          </a:p>
        </p:txBody>
      </p:sp>
      <p:sp>
        <p:nvSpPr>
          <p:cNvPr id="28" name="ZoneTexte 27">
            <a:extLst>
              <a:ext uri="{FF2B5EF4-FFF2-40B4-BE49-F238E27FC236}">
                <a16:creationId xmlns:a16="http://schemas.microsoft.com/office/drawing/2014/main" id="{232083E1-4664-6730-7AA6-DCE1EB5E766D}"/>
              </a:ext>
            </a:extLst>
          </p:cNvPr>
          <p:cNvSpPr txBox="1"/>
          <p:nvPr/>
        </p:nvSpPr>
        <p:spPr>
          <a:xfrm>
            <a:off x="320040" y="3702390"/>
            <a:ext cx="457200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en-US" sz="1600" b="1" dirty="0" err="1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Difficulté</a:t>
            </a:r>
            <a:r>
              <a:rPr lang="en-US" sz="1600" b="1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3</a:t>
            </a:r>
            <a:endParaRPr lang="en-US" sz="1600" dirty="0"/>
          </a:p>
        </p:txBody>
      </p:sp>
      <p:pic>
        <p:nvPicPr>
          <p:cNvPr id="32" name="Image 1" descr="preencoded.png">
            <a:extLst>
              <a:ext uri="{FF2B5EF4-FFF2-40B4-BE49-F238E27FC236}">
                <a16:creationId xmlns:a16="http://schemas.microsoft.com/office/drawing/2014/main" id="{6D7A6A40-6574-1631-99F4-7C608102DE9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4795" y="4058188"/>
            <a:ext cx="502920" cy="502920"/>
          </a:xfrm>
          <a:prstGeom prst="rect">
            <a:avLst/>
          </a:prstGeom>
        </p:spPr>
      </p:pic>
      <p:sp>
        <p:nvSpPr>
          <p:cNvPr id="36" name="Shape 14">
            <a:extLst>
              <a:ext uri="{FF2B5EF4-FFF2-40B4-BE49-F238E27FC236}">
                <a16:creationId xmlns:a16="http://schemas.microsoft.com/office/drawing/2014/main" id="{CEA3EBD5-812F-D988-B567-DFCF737AFC88}"/>
              </a:ext>
            </a:extLst>
          </p:cNvPr>
          <p:cNvSpPr/>
          <p:nvPr/>
        </p:nvSpPr>
        <p:spPr>
          <a:xfrm>
            <a:off x="4800600" y="3644715"/>
            <a:ext cx="3840480" cy="1172157"/>
          </a:xfrm>
          <a:prstGeom prst="roundRect">
            <a:avLst>
              <a:gd name="adj" fmla="val 8000"/>
            </a:avLst>
          </a:prstGeom>
          <a:solidFill>
            <a:schemeClr val="accent1">
              <a:lumMod val="40000"/>
              <a:lumOff val="60000"/>
            </a:schemeClr>
          </a:solidFill>
          <a:ln/>
          <a:effectLst>
            <a:outerShdw blurRad="76200" dist="254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fr-FR" sz="2400" dirty="0"/>
          </a:p>
        </p:txBody>
      </p:sp>
      <p:sp>
        <p:nvSpPr>
          <p:cNvPr id="38" name="Shape 13">
            <a:extLst>
              <a:ext uri="{FF2B5EF4-FFF2-40B4-BE49-F238E27FC236}">
                <a16:creationId xmlns:a16="http://schemas.microsoft.com/office/drawing/2014/main" id="{6323CA11-229B-48A6-15E7-35F951048295}"/>
              </a:ext>
            </a:extLst>
          </p:cNvPr>
          <p:cNvSpPr/>
          <p:nvPr/>
        </p:nvSpPr>
        <p:spPr>
          <a:xfrm>
            <a:off x="3977640" y="4243678"/>
            <a:ext cx="640080" cy="0"/>
          </a:xfrm>
          <a:prstGeom prst="line">
            <a:avLst/>
          </a:prstGeom>
          <a:noFill/>
          <a:ln w="25400">
            <a:solidFill>
              <a:srgbClr val="241D6B"/>
            </a:solidFill>
            <a:prstDash val="solid"/>
          </a:ln>
        </p:spPr>
        <p:txBody>
          <a:bodyPr/>
          <a:lstStyle/>
          <a:p>
            <a:endParaRPr lang="fr-FR" sz="2400" dirty="0"/>
          </a:p>
        </p:txBody>
      </p:sp>
      <p:sp>
        <p:nvSpPr>
          <p:cNvPr id="42" name="ZoneTexte 41">
            <a:extLst>
              <a:ext uri="{FF2B5EF4-FFF2-40B4-BE49-F238E27FC236}">
                <a16:creationId xmlns:a16="http://schemas.microsoft.com/office/drawing/2014/main" id="{4EEC8314-69BB-05F7-7C37-E226D0A51D71}"/>
              </a:ext>
            </a:extLst>
          </p:cNvPr>
          <p:cNvSpPr txBox="1"/>
          <p:nvPr/>
        </p:nvSpPr>
        <p:spPr>
          <a:xfrm>
            <a:off x="4892040" y="4069079"/>
            <a:ext cx="45720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en-US" sz="1800" b="1" dirty="0" err="1">
                <a:solidFill>
                  <a:srgbClr val="14532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Utilisation</a:t>
            </a:r>
            <a:r>
              <a:rPr lang="en-US" sz="1800" b="1" dirty="0">
                <a:solidFill>
                  <a:srgbClr val="14532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de :</a:t>
            </a:r>
            <a:endParaRPr lang="en-US" sz="1800" dirty="0"/>
          </a:p>
          <a:p>
            <a:pPr marL="0" indent="0">
              <a:buNone/>
            </a:pPr>
            <a:r>
              <a:rPr lang="en-US" sz="1800" b="1" dirty="0">
                <a:solidFill>
                  <a:srgbClr val="14532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rebase –</a:t>
            </a:r>
            <a:r>
              <a:rPr lang="en-US" sz="1800" b="1" dirty="0" err="1">
                <a:solidFill>
                  <a:srgbClr val="14532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</a:t>
            </a:r>
            <a:r>
              <a:rPr lang="en-US" sz="1800" b="1" dirty="0">
                <a:solidFill>
                  <a:srgbClr val="14532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--root</a:t>
            </a:r>
            <a:endParaRPr lang="en-US" sz="1800" dirty="0"/>
          </a:p>
        </p:txBody>
      </p:sp>
      <p:sp>
        <p:nvSpPr>
          <p:cNvPr id="44" name="ZoneTexte 43">
            <a:extLst>
              <a:ext uri="{FF2B5EF4-FFF2-40B4-BE49-F238E27FC236}">
                <a16:creationId xmlns:a16="http://schemas.microsoft.com/office/drawing/2014/main" id="{8A5DE837-64D6-19CA-170A-346E19F5C9D4}"/>
              </a:ext>
            </a:extLst>
          </p:cNvPr>
          <p:cNvSpPr txBox="1"/>
          <p:nvPr/>
        </p:nvSpPr>
        <p:spPr>
          <a:xfrm>
            <a:off x="4868884" y="3662034"/>
            <a:ext cx="4732316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en-US" sz="1600" b="1" dirty="0">
                <a:solidFill>
                  <a:srgbClr val="1665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Solution</a:t>
            </a:r>
            <a:endParaRPr lang="en-US" sz="16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20040" y="228600"/>
            <a:ext cx="502920" cy="502920"/>
          </a:xfrm>
          <a:prstGeom prst="ellipse">
            <a:avLst/>
          </a:prstGeom>
          <a:solidFill>
            <a:srgbClr val="241D6B"/>
          </a:solidFill>
          <a:ln/>
        </p:spPr>
        <p:txBody>
          <a:bodyPr/>
          <a:lstStyle/>
          <a:p>
            <a:endParaRPr lang="fr-FR" sz="2800"/>
          </a:p>
        </p:txBody>
      </p:sp>
      <p:sp>
        <p:nvSpPr>
          <p:cNvPr id="3" name="Text 1"/>
          <p:cNvSpPr/>
          <p:nvPr/>
        </p:nvSpPr>
        <p:spPr>
          <a:xfrm>
            <a:off x="320040" y="2286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12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960120" y="228600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00B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Ressources utilisées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365760" y="914400"/>
            <a:ext cx="5029200" cy="621792"/>
          </a:xfrm>
          <a:prstGeom prst="roundRect">
            <a:avLst>
              <a:gd name="adj" fmla="val 13235"/>
            </a:avLst>
          </a:prstGeom>
          <a:solidFill>
            <a:srgbClr val="EEF2FC"/>
          </a:solidFill>
          <a:ln/>
          <a:effectLst>
            <a:outerShdw blurRad="50800" dist="12700" dir="27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fr-FR" sz="2800"/>
          </a:p>
        </p:txBody>
      </p:sp>
      <p:sp>
        <p:nvSpPr>
          <p:cNvPr id="6" name="Shape 4"/>
          <p:cNvSpPr/>
          <p:nvPr/>
        </p:nvSpPr>
        <p:spPr>
          <a:xfrm>
            <a:off x="457200" y="987552"/>
            <a:ext cx="457200" cy="457200"/>
          </a:xfrm>
          <a:prstGeom prst="ellipse">
            <a:avLst/>
          </a:prstGeom>
          <a:solidFill>
            <a:srgbClr val="000000"/>
          </a:solidFill>
          <a:ln/>
        </p:spPr>
        <p:txBody>
          <a:bodyPr/>
          <a:lstStyle/>
          <a:p>
            <a:endParaRPr lang="fr-FR" sz="2800"/>
          </a:p>
        </p:txBody>
      </p:sp>
      <p:sp>
        <p:nvSpPr>
          <p:cNvPr id="7" name="Text 5"/>
          <p:cNvSpPr/>
          <p:nvPr/>
        </p:nvSpPr>
        <p:spPr>
          <a:xfrm>
            <a:off x="457200" y="98755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MDN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1051560" y="1051560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dirty="0">
                <a:solidFill>
                  <a:srgbClr val="1A15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Documentation MDN</a:t>
            </a:r>
            <a:endParaRPr lang="en-US" dirty="0"/>
          </a:p>
        </p:txBody>
      </p:sp>
      <p:sp>
        <p:nvSpPr>
          <p:cNvPr id="9" name="Shape 7"/>
          <p:cNvSpPr/>
          <p:nvPr/>
        </p:nvSpPr>
        <p:spPr>
          <a:xfrm>
            <a:off x="365760" y="1691640"/>
            <a:ext cx="5029200" cy="621792"/>
          </a:xfrm>
          <a:prstGeom prst="roundRect">
            <a:avLst>
              <a:gd name="adj" fmla="val 13235"/>
            </a:avLst>
          </a:prstGeom>
          <a:solidFill>
            <a:srgbClr val="EEF2FC"/>
          </a:solidFill>
          <a:ln/>
          <a:effectLst>
            <a:outerShdw blurRad="50800" dist="12700" dir="27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fr-FR" sz="2800"/>
          </a:p>
        </p:txBody>
      </p:sp>
      <p:sp>
        <p:nvSpPr>
          <p:cNvPr id="10" name="Shape 8"/>
          <p:cNvSpPr/>
          <p:nvPr/>
        </p:nvSpPr>
        <p:spPr>
          <a:xfrm>
            <a:off x="457200" y="1764792"/>
            <a:ext cx="457200" cy="457200"/>
          </a:xfrm>
          <a:prstGeom prst="ellipse">
            <a:avLst/>
          </a:prstGeom>
          <a:solidFill>
            <a:srgbClr val="7952B3"/>
          </a:solidFill>
          <a:ln/>
        </p:spPr>
        <p:txBody>
          <a:bodyPr/>
          <a:lstStyle/>
          <a:p>
            <a:endParaRPr lang="fr-FR" sz="2800"/>
          </a:p>
        </p:txBody>
      </p:sp>
      <p:sp>
        <p:nvSpPr>
          <p:cNvPr id="11" name="Text 9"/>
          <p:cNvSpPr/>
          <p:nvPr/>
        </p:nvSpPr>
        <p:spPr>
          <a:xfrm>
            <a:off x="457200" y="176479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B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1051560" y="1828800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dirty="0">
                <a:solidFill>
                  <a:srgbClr val="1A15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Documentation Bootstrap</a:t>
            </a:r>
            <a:endParaRPr lang="en-US" dirty="0"/>
          </a:p>
        </p:txBody>
      </p:sp>
      <p:sp>
        <p:nvSpPr>
          <p:cNvPr id="13" name="Shape 11"/>
          <p:cNvSpPr/>
          <p:nvPr/>
        </p:nvSpPr>
        <p:spPr>
          <a:xfrm>
            <a:off x="365760" y="2468880"/>
            <a:ext cx="5029200" cy="621792"/>
          </a:xfrm>
          <a:prstGeom prst="roundRect">
            <a:avLst>
              <a:gd name="adj" fmla="val 13235"/>
            </a:avLst>
          </a:prstGeom>
          <a:solidFill>
            <a:srgbClr val="EEF2FC"/>
          </a:solidFill>
          <a:ln/>
          <a:effectLst>
            <a:outerShdw blurRad="50800" dist="12700" dir="27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fr-FR" sz="2800"/>
          </a:p>
        </p:txBody>
      </p:sp>
      <p:sp>
        <p:nvSpPr>
          <p:cNvPr id="14" name="Shape 12"/>
          <p:cNvSpPr/>
          <p:nvPr/>
        </p:nvSpPr>
        <p:spPr>
          <a:xfrm>
            <a:off x="457200" y="2542032"/>
            <a:ext cx="457200" cy="457200"/>
          </a:xfrm>
          <a:prstGeom prst="ellipse">
            <a:avLst/>
          </a:prstGeom>
          <a:solidFill>
            <a:srgbClr val="EA4335"/>
          </a:solidFill>
          <a:ln/>
        </p:spPr>
        <p:txBody>
          <a:bodyPr/>
          <a:lstStyle/>
          <a:p>
            <a:endParaRPr lang="fr-FR" sz="2800"/>
          </a:p>
        </p:txBody>
      </p:sp>
      <p:sp>
        <p:nvSpPr>
          <p:cNvPr id="15" name="Text 13"/>
          <p:cNvSpPr/>
          <p:nvPr/>
        </p:nvSpPr>
        <p:spPr>
          <a:xfrm>
            <a:off x="457200" y="254203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G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1051560" y="2606040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dirty="0">
                <a:solidFill>
                  <a:srgbClr val="1A15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Fonts</a:t>
            </a:r>
            <a:endParaRPr lang="en-US" dirty="0"/>
          </a:p>
        </p:txBody>
      </p:sp>
      <p:sp>
        <p:nvSpPr>
          <p:cNvPr id="17" name="Shape 15"/>
          <p:cNvSpPr/>
          <p:nvPr/>
        </p:nvSpPr>
        <p:spPr>
          <a:xfrm>
            <a:off x="365760" y="3246120"/>
            <a:ext cx="5029200" cy="621792"/>
          </a:xfrm>
          <a:prstGeom prst="roundRect">
            <a:avLst>
              <a:gd name="adj" fmla="val 13235"/>
            </a:avLst>
          </a:prstGeom>
          <a:solidFill>
            <a:srgbClr val="EEF2FC"/>
          </a:solidFill>
          <a:ln/>
          <a:effectLst>
            <a:outerShdw blurRad="50800" dist="12700" dir="27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fr-FR" sz="2800"/>
          </a:p>
        </p:txBody>
      </p:sp>
      <p:sp>
        <p:nvSpPr>
          <p:cNvPr id="18" name="Shape 16"/>
          <p:cNvSpPr/>
          <p:nvPr/>
        </p:nvSpPr>
        <p:spPr>
          <a:xfrm>
            <a:off x="457200" y="3319272"/>
            <a:ext cx="457200" cy="457200"/>
          </a:xfrm>
          <a:prstGeom prst="ellipse">
            <a:avLst/>
          </a:prstGeom>
          <a:solidFill>
            <a:srgbClr val="222222"/>
          </a:solidFill>
          <a:ln/>
        </p:spPr>
        <p:txBody>
          <a:bodyPr/>
          <a:lstStyle/>
          <a:p>
            <a:endParaRPr lang="fr-FR" sz="2800"/>
          </a:p>
        </p:txBody>
      </p:sp>
      <p:sp>
        <p:nvSpPr>
          <p:cNvPr id="19" name="Text 17"/>
          <p:cNvSpPr/>
          <p:nvPr/>
        </p:nvSpPr>
        <p:spPr>
          <a:xfrm>
            <a:off x="457200" y="331927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U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1051560" y="3383280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dirty="0">
                <a:solidFill>
                  <a:srgbClr val="1A15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Unsplash</a:t>
            </a:r>
            <a:endParaRPr lang="en-US" dirty="0"/>
          </a:p>
        </p:txBody>
      </p:sp>
      <p:sp>
        <p:nvSpPr>
          <p:cNvPr id="23" name="Text 21"/>
          <p:cNvSpPr/>
          <p:nvPr/>
        </p:nvSpPr>
        <p:spPr>
          <a:xfrm>
            <a:off x="457200" y="409651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1051560" y="4160520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20040" y="228600"/>
            <a:ext cx="502920" cy="502920"/>
          </a:xfrm>
          <a:prstGeom prst="ellipse">
            <a:avLst/>
          </a:prstGeom>
          <a:solidFill>
            <a:srgbClr val="241D6B"/>
          </a:solidFill>
          <a:ln/>
        </p:spPr>
        <p:txBody>
          <a:bodyPr/>
          <a:lstStyle/>
          <a:p>
            <a:endParaRPr lang="fr-FR" sz="2400"/>
          </a:p>
        </p:txBody>
      </p:sp>
      <p:sp>
        <p:nvSpPr>
          <p:cNvPr id="3" name="Text 1"/>
          <p:cNvSpPr/>
          <p:nvPr/>
        </p:nvSpPr>
        <p:spPr>
          <a:xfrm>
            <a:off x="320040" y="2286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13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960120" y="228600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00B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Démonstration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365760" y="80467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 err="1">
                <a:solidFill>
                  <a:srgbClr val="6677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Démonstration</a:t>
            </a:r>
            <a:r>
              <a:rPr lang="en-US" sz="1600" dirty="0">
                <a:solidFill>
                  <a:srgbClr val="6677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600" dirty="0" err="1">
                <a:solidFill>
                  <a:srgbClr val="6677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</a:t>
            </a:r>
            <a:r>
              <a:rPr lang="en-US" sz="1600" dirty="0">
                <a:solidFill>
                  <a:srgbClr val="6677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direct</a:t>
            </a:r>
            <a:endParaRPr lang="en-US" sz="1600" dirty="0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188720"/>
            <a:ext cx="320040" cy="32004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896112" y="118872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A15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Accueil</a:t>
            </a:r>
            <a:endParaRPr lang="en-US" sz="1600" dirty="0"/>
          </a:p>
        </p:txBody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783080"/>
            <a:ext cx="320040" cy="32004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896112" y="178308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A15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Recherche de freelances</a:t>
            </a:r>
            <a:endParaRPr lang="en-US" sz="1600" dirty="0"/>
          </a:p>
        </p:txBody>
      </p:sp>
      <p:pic>
        <p:nvPicPr>
          <p:cNvPr id="10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2377440"/>
            <a:ext cx="320040" cy="320040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896112" y="237744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A15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Dark Mode</a:t>
            </a:r>
            <a:endParaRPr lang="en-US" sz="1600" dirty="0"/>
          </a:p>
        </p:txBody>
      </p:sp>
      <p:pic>
        <p:nvPicPr>
          <p:cNvPr id="12" name="Image 3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2971800"/>
            <a:ext cx="320040" cy="320040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896112" y="297180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A15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Formulaire de contact</a:t>
            </a:r>
            <a:endParaRPr lang="en-US" sz="1600" dirty="0"/>
          </a:p>
        </p:txBody>
      </p:sp>
      <p:pic>
        <p:nvPicPr>
          <p:cNvPr id="14" name="Image 4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3566160"/>
            <a:ext cx="320040" cy="320040"/>
          </a:xfrm>
          <a:prstGeom prst="rect">
            <a:avLst/>
          </a:prstGeom>
        </p:spPr>
      </p:pic>
      <p:sp>
        <p:nvSpPr>
          <p:cNvPr id="15" name="Text 8"/>
          <p:cNvSpPr/>
          <p:nvPr/>
        </p:nvSpPr>
        <p:spPr>
          <a:xfrm>
            <a:off x="896112" y="356616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A15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Responsive</a:t>
            </a:r>
            <a:endParaRPr lang="en-US" sz="1600" dirty="0"/>
          </a:p>
        </p:txBody>
      </p:sp>
      <p:sp>
        <p:nvSpPr>
          <p:cNvPr id="21" name="Text 14"/>
          <p:cNvSpPr/>
          <p:nvPr/>
        </p:nvSpPr>
        <p:spPr>
          <a:xfrm>
            <a:off x="4754880" y="1371600"/>
            <a:ext cx="3840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2400" dirty="0"/>
          </a:p>
        </p:txBody>
      </p:sp>
      <p:sp>
        <p:nvSpPr>
          <p:cNvPr id="22" name="Text 15"/>
          <p:cNvSpPr/>
          <p:nvPr/>
        </p:nvSpPr>
        <p:spPr>
          <a:xfrm>
            <a:off x="4754880" y="182880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Trouvez le talent qu'il</a:t>
            </a:r>
            <a:endParaRPr lang="en-US" dirty="0"/>
          </a:p>
          <a:p>
            <a:pPr marL="0" indent="0">
              <a:buNone/>
            </a:pPr>
            <a:r>
              <a:rPr lang="en-US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vous faut.</a:t>
            </a:r>
            <a:endParaRPr lang="en-US" dirty="0"/>
          </a:p>
        </p:txBody>
      </p:sp>
      <p:sp>
        <p:nvSpPr>
          <p:cNvPr id="24" name="Text 17"/>
          <p:cNvSpPr/>
          <p:nvPr/>
        </p:nvSpPr>
        <p:spPr>
          <a:xfrm>
            <a:off x="4754880" y="269748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100" dirty="0"/>
          </a:p>
        </p:txBody>
      </p:sp>
      <p:sp>
        <p:nvSpPr>
          <p:cNvPr id="26" name="Text 19"/>
          <p:cNvSpPr/>
          <p:nvPr/>
        </p:nvSpPr>
        <p:spPr>
          <a:xfrm>
            <a:off x="274320" y="482803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1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20040" y="228600"/>
            <a:ext cx="502920" cy="502920"/>
          </a:xfrm>
          <a:prstGeom prst="ellipse">
            <a:avLst/>
          </a:prstGeom>
          <a:solidFill>
            <a:srgbClr val="241D6B"/>
          </a:solidFill>
          <a:ln/>
        </p:spPr>
        <p:txBody>
          <a:bodyPr/>
          <a:lstStyle/>
          <a:p>
            <a:endParaRPr lang="fr-FR" sz="2400"/>
          </a:p>
        </p:txBody>
      </p:sp>
      <p:sp>
        <p:nvSpPr>
          <p:cNvPr id="3" name="Text 1"/>
          <p:cNvSpPr/>
          <p:nvPr/>
        </p:nvSpPr>
        <p:spPr>
          <a:xfrm>
            <a:off x="320040" y="2286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14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960120" y="228600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00B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365760" y="82296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1A15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Bilan</a:t>
            </a: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365760" y="117043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A15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projet AfriTalent m'a permis de :</a:t>
            </a:r>
            <a:endParaRPr lang="en-US" sz="1600" dirty="0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1480" y="1600200"/>
            <a:ext cx="365760" cy="36576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914400" y="1600200"/>
            <a:ext cx="43891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A15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renforcer mes compétences en HTML, CSS et JavaScript ;</a:t>
            </a:r>
            <a:endParaRPr lang="en-US" sz="1600" dirty="0"/>
          </a:p>
        </p:txBody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1480" y="2331720"/>
            <a:ext cx="365760" cy="36576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914400" y="2331720"/>
            <a:ext cx="43891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A15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utiliser Bootstrap pour créer une interface responsive ;</a:t>
            </a:r>
            <a:endParaRPr lang="en-US" sz="1600" dirty="0"/>
          </a:p>
        </p:txBody>
      </p:sp>
      <p:pic>
        <p:nvPicPr>
          <p:cNvPr id="11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1480" y="3063240"/>
            <a:ext cx="365760" cy="365760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914400" y="3063240"/>
            <a:ext cx="43891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A15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apprendre la gestion de versions avec Git et GitHub.</a:t>
            </a:r>
            <a:endParaRPr lang="en-US" sz="1600" dirty="0"/>
          </a:p>
        </p:txBody>
      </p:sp>
      <p:pic>
        <p:nvPicPr>
          <p:cNvPr id="13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69280" y="1371600"/>
            <a:ext cx="2743200" cy="274320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20040" y="228600"/>
            <a:ext cx="502920" cy="502920"/>
          </a:xfrm>
          <a:prstGeom prst="ellipse">
            <a:avLst/>
          </a:prstGeom>
          <a:solidFill>
            <a:srgbClr val="241D6B"/>
          </a:solidFill>
          <a:ln/>
        </p:spPr>
        <p:txBody>
          <a:bodyPr/>
          <a:lstStyle/>
          <a:p>
            <a:endParaRPr lang="fr-FR" sz="1600"/>
          </a:p>
        </p:txBody>
      </p:sp>
      <p:sp>
        <p:nvSpPr>
          <p:cNvPr id="3" name="Text 1"/>
          <p:cNvSpPr/>
          <p:nvPr/>
        </p:nvSpPr>
        <p:spPr>
          <a:xfrm>
            <a:off x="320040" y="2286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15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960120" y="228600"/>
            <a:ext cx="5029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00B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Perspectives d'amélioration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365760" y="8229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6677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Améliorations futures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365760" y="1188720"/>
            <a:ext cx="2468880" cy="594360"/>
          </a:xfrm>
          <a:prstGeom prst="roundRect">
            <a:avLst>
              <a:gd name="adj" fmla="val 12308"/>
            </a:avLst>
          </a:prstGeom>
          <a:solidFill>
            <a:srgbClr val="EEF2FC"/>
          </a:solidFill>
          <a:ln/>
          <a:effectLst>
            <a:outerShdw blurRad="50800" dist="12700" dir="27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fr-FR" sz="1600"/>
          </a:p>
        </p:txBody>
      </p:sp>
      <p:sp>
        <p:nvSpPr>
          <p:cNvPr id="7" name="Shape 5"/>
          <p:cNvSpPr/>
          <p:nvPr/>
        </p:nvSpPr>
        <p:spPr>
          <a:xfrm>
            <a:off x="457200" y="1298448"/>
            <a:ext cx="347472" cy="347472"/>
          </a:xfrm>
          <a:prstGeom prst="ellipse">
            <a:avLst/>
          </a:prstGeom>
          <a:solidFill>
            <a:srgbClr val="497FD6">
              <a:alpha val="80000"/>
            </a:srgbClr>
          </a:solidFill>
          <a:ln/>
        </p:spPr>
        <p:txBody>
          <a:bodyPr/>
          <a:lstStyle/>
          <a:p>
            <a:endParaRPr lang="fr-FR" sz="1600"/>
          </a:p>
        </p:txBody>
      </p:sp>
      <p:sp>
        <p:nvSpPr>
          <p:cNvPr id="8" name="Text 6"/>
          <p:cNvSpPr/>
          <p:nvPr/>
        </p:nvSpPr>
        <p:spPr>
          <a:xfrm>
            <a:off x="457200" y="1298448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000000"/>
                </a:solidFill>
              </a:rPr>
              <a:t>⚡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896112" y="1325880"/>
            <a:ext cx="1783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A15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Connexion des utilisateurs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365760" y="1920240"/>
            <a:ext cx="2468880" cy="594360"/>
          </a:xfrm>
          <a:prstGeom prst="roundRect">
            <a:avLst>
              <a:gd name="adj" fmla="val 12308"/>
            </a:avLst>
          </a:prstGeom>
          <a:solidFill>
            <a:srgbClr val="EEF2FC"/>
          </a:solidFill>
          <a:ln/>
          <a:effectLst>
            <a:outerShdw blurRad="50800" dist="12700" dir="27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fr-FR" sz="1600"/>
          </a:p>
        </p:txBody>
      </p:sp>
      <p:sp>
        <p:nvSpPr>
          <p:cNvPr id="11" name="Shape 9"/>
          <p:cNvSpPr/>
          <p:nvPr/>
        </p:nvSpPr>
        <p:spPr>
          <a:xfrm>
            <a:off x="457200" y="2029968"/>
            <a:ext cx="347472" cy="347472"/>
          </a:xfrm>
          <a:prstGeom prst="ellipse">
            <a:avLst/>
          </a:prstGeom>
          <a:solidFill>
            <a:srgbClr val="497FD6">
              <a:alpha val="80000"/>
            </a:srgbClr>
          </a:solidFill>
          <a:ln/>
        </p:spPr>
        <p:txBody>
          <a:bodyPr/>
          <a:lstStyle/>
          <a:p>
            <a:endParaRPr lang="fr-FR" sz="1600"/>
          </a:p>
        </p:txBody>
      </p:sp>
      <p:sp>
        <p:nvSpPr>
          <p:cNvPr id="12" name="Text 10"/>
          <p:cNvSpPr/>
          <p:nvPr/>
        </p:nvSpPr>
        <p:spPr>
          <a:xfrm>
            <a:off x="457200" y="2029968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000000"/>
                </a:solidFill>
              </a:rPr>
              <a:t>⚡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896112" y="2057400"/>
            <a:ext cx="1783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A15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 de données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365760" y="2651760"/>
            <a:ext cx="2468880" cy="594360"/>
          </a:xfrm>
          <a:prstGeom prst="roundRect">
            <a:avLst>
              <a:gd name="adj" fmla="val 12308"/>
            </a:avLst>
          </a:prstGeom>
          <a:solidFill>
            <a:srgbClr val="EEF2FC"/>
          </a:solidFill>
          <a:ln/>
          <a:effectLst>
            <a:outerShdw blurRad="50800" dist="12700" dir="27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fr-FR" sz="1600"/>
          </a:p>
        </p:txBody>
      </p:sp>
      <p:sp>
        <p:nvSpPr>
          <p:cNvPr id="15" name="Shape 13"/>
          <p:cNvSpPr/>
          <p:nvPr/>
        </p:nvSpPr>
        <p:spPr>
          <a:xfrm>
            <a:off x="457200" y="2761488"/>
            <a:ext cx="347472" cy="347472"/>
          </a:xfrm>
          <a:prstGeom prst="ellipse">
            <a:avLst/>
          </a:prstGeom>
          <a:solidFill>
            <a:srgbClr val="497FD6">
              <a:alpha val="80000"/>
            </a:srgbClr>
          </a:solidFill>
          <a:ln/>
        </p:spPr>
        <p:txBody>
          <a:bodyPr/>
          <a:lstStyle/>
          <a:p>
            <a:endParaRPr lang="fr-FR" sz="1600"/>
          </a:p>
        </p:txBody>
      </p:sp>
      <p:sp>
        <p:nvSpPr>
          <p:cNvPr id="16" name="Text 14"/>
          <p:cNvSpPr/>
          <p:nvPr/>
        </p:nvSpPr>
        <p:spPr>
          <a:xfrm>
            <a:off x="457200" y="2761488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000000"/>
                </a:solidFill>
              </a:rPr>
              <a:t>⚡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896112" y="2788920"/>
            <a:ext cx="1783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A15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Authentification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3108960" y="1188720"/>
            <a:ext cx="2468880" cy="594360"/>
          </a:xfrm>
          <a:prstGeom prst="roundRect">
            <a:avLst>
              <a:gd name="adj" fmla="val 12308"/>
            </a:avLst>
          </a:prstGeom>
          <a:solidFill>
            <a:srgbClr val="EEF2FC"/>
          </a:solidFill>
          <a:ln/>
          <a:effectLst>
            <a:outerShdw blurRad="50800" dist="12700" dir="27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fr-FR" sz="1600"/>
          </a:p>
        </p:txBody>
      </p:sp>
      <p:sp>
        <p:nvSpPr>
          <p:cNvPr id="19" name="Shape 17"/>
          <p:cNvSpPr/>
          <p:nvPr/>
        </p:nvSpPr>
        <p:spPr>
          <a:xfrm>
            <a:off x="3200400" y="1298448"/>
            <a:ext cx="347472" cy="347472"/>
          </a:xfrm>
          <a:prstGeom prst="ellipse">
            <a:avLst/>
          </a:prstGeom>
          <a:solidFill>
            <a:srgbClr val="497FD6">
              <a:alpha val="80000"/>
            </a:srgbClr>
          </a:solidFill>
          <a:ln/>
        </p:spPr>
        <p:txBody>
          <a:bodyPr/>
          <a:lstStyle/>
          <a:p>
            <a:endParaRPr lang="fr-FR" sz="1600"/>
          </a:p>
        </p:txBody>
      </p:sp>
      <p:sp>
        <p:nvSpPr>
          <p:cNvPr id="20" name="Text 18"/>
          <p:cNvSpPr/>
          <p:nvPr/>
        </p:nvSpPr>
        <p:spPr>
          <a:xfrm>
            <a:off x="3200400" y="1298448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000000"/>
                </a:solidFill>
              </a:rPr>
              <a:t>⚡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3639312" y="1325880"/>
            <a:ext cx="1783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A15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Tableau de bord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3108960" y="1920240"/>
            <a:ext cx="2468880" cy="594360"/>
          </a:xfrm>
          <a:prstGeom prst="roundRect">
            <a:avLst>
              <a:gd name="adj" fmla="val 12308"/>
            </a:avLst>
          </a:prstGeom>
          <a:solidFill>
            <a:srgbClr val="EEF2FC"/>
          </a:solidFill>
          <a:ln/>
          <a:effectLst>
            <a:outerShdw blurRad="50800" dist="12700" dir="27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fr-FR" sz="1600"/>
          </a:p>
        </p:txBody>
      </p:sp>
      <p:sp>
        <p:nvSpPr>
          <p:cNvPr id="23" name="Shape 21"/>
          <p:cNvSpPr/>
          <p:nvPr/>
        </p:nvSpPr>
        <p:spPr>
          <a:xfrm>
            <a:off x="3200400" y="2029968"/>
            <a:ext cx="347472" cy="347472"/>
          </a:xfrm>
          <a:prstGeom prst="ellipse">
            <a:avLst/>
          </a:prstGeom>
          <a:solidFill>
            <a:srgbClr val="497FD6">
              <a:alpha val="80000"/>
            </a:srgbClr>
          </a:solidFill>
          <a:ln/>
        </p:spPr>
        <p:txBody>
          <a:bodyPr/>
          <a:lstStyle/>
          <a:p>
            <a:endParaRPr lang="fr-FR" sz="1600"/>
          </a:p>
        </p:txBody>
      </p:sp>
      <p:sp>
        <p:nvSpPr>
          <p:cNvPr id="24" name="Text 22"/>
          <p:cNvSpPr/>
          <p:nvPr/>
        </p:nvSpPr>
        <p:spPr>
          <a:xfrm>
            <a:off x="3200400" y="2029968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000000"/>
                </a:solidFill>
              </a:rPr>
              <a:t>⚡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3639312" y="2057400"/>
            <a:ext cx="1783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A15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Paiement en ligne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3108960" y="2651760"/>
            <a:ext cx="2468880" cy="594360"/>
          </a:xfrm>
          <a:prstGeom prst="roundRect">
            <a:avLst>
              <a:gd name="adj" fmla="val 12308"/>
            </a:avLst>
          </a:prstGeom>
          <a:solidFill>
            <a:srgbClr val="EEF2FC"/>
          </a:solidFill>
          <a:ln/>
          <a:effectLst>
            <a:outerShdw blurRad="50800" dist="12700" dir="27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fr-FR" sz="1600"/>
          </a:p>
        </p:txBody>
      </p:sp>
      <p:sp>
        <p:nvSpPr>
          <p:cNvPr id="27" name="Shape 25"/>
          <p:cNvSpPr/>
          <p:nvPr/>
        </p:nvSpPr>
        <p:spPr>
          <a:xfrm>
            <a:off x="3200400" y="2761488"/>
            <a:ext cx="347472" cy="347472"/>
          </a:xfrm>
          <a:prstGeom prst="ellipse">
            <a:avLst/>
          </a:prstGeom>
          <a:solidFill>
            <a:srgbClr val="497FD6">
              <a:alpha val="80000"/>
            </a:srgbClr>
          </a:solidFill>
          <a:ln/>
        </p:spPr>
        <p:txBody>
          <a:bodyPr/>
          <a:lstStyle/>
          <a:p>
            <a:endParaRPr lang="fr-FR" sz="1600"/>
          </a:p>
        </p:txBody>
      </p:sp>
      <p:sp>
        <p:nvSpPr>
          <p:cNvPr id="28" name="Text 26"/>
          <p:cNvSpPr/>
          <p:nvPr/>
        </p:nvSpPr>
        <p:spPr>
          <a:xfrm>
            <a:off x="3200400" y="2761488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000000"/>
                </a:solidFill>
              </a:rPr>
              <a:t>⚡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3639312" y="2788920"/>
            <a:ext cx="1783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A15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Messagerie entre freelances et entreprises</a:t>
            </a:r>
            <a:endParaRPr lang="en-US" sz="1600" dirty="0"/>
          </a:p>
        </p:txBody>
      </p:sp>
      <p:sp>
        <p:nvSpPr>
          <p:cNvPr id="30" name="Shape 28"/>
          <p:cNvSpPr/>
          <p:nvPr/>
        </p:nvSpPr>
        <p:spPr>
          <a:xfrm>
            <a:off x="5852160" y="457200"/>
            <a:ext cx="2926080" cy="4389120"/>
          </a:xfrm>
          <a:prstGeom prst="roundRect">
            <a:avLst>
              <a:gd name="adj" fmla="val 4688"/>
            </a:avLst>
          </a:prstGeom>
          <a:solidFill>
            <a:srgbClr val="100B20"/>
          </a:solidFill>
          <a:ln/>
        </p:spPr>
        <p:txBody>
          <a:bodyPr/>
          <a:lstStyle/>
          <a:p>
            <a:endParaRPr lang="fr-FR" sz="1600"/>
          </a:p>
        </p:txBody>
      </p:sp>
      <p:sp>
        <p:nvSpPr>
          <p:cNvPr id="31" name="Text 29"/>
          <p:cNvSpPr/>
          <p:nvPr/>
        </p:nvSpPr>
        <p:spPr>
          <a:xfrm>
            <a:off x="5943600" y="914400"/>
            <a:ext cx="27432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Merci pour</a:t>
            </a:r>
            <a:endParaRPr lang="en-US" sz="2400" dirty="0"/>
          </a:p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votre attention !</a:t>
            </a:r>
            <a:endParaRPr lang="en-US" sz="2400" dirty="0"/>
          </a:p>
        </p:txBody>
      </p:sp>
      <p:sp>
        <p:nvSpPr>
          <p:cNvPr id="32" name="Text 30"/>
          <p:cNvSpPr/>
          <p:nvPr/>
        </p:nvSpPr>
        <p:spPr>
          <a:xfrm>
            <a:off x="5943600" y="237744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497F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</a:t>
            </a:r>
            <a:r>
              <a:rPr lang="en-US" sz="1600" b="1" dirty="0">
                <a:solidFill>
                  <a:srgbClr val="497F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?</a:t>
            </a:r>
            <a:endParaRPr lang="en-US" sz="1600" dirty="0"/>
          </a:p>
        </p:txBody>
      </p:sp>
      <p:pic>
        <p:nvPicPr>
          <p:cNvPr id="3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83680" y="3108960"/>
            <a:ext cx="1463040" cy="146304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410</TotalTime>
  <Words>546</Words>
  <Application>Microsoft Office PowerPoint</Application>
  <PresentationFormat>Affichage à l'écran (16:9)</PresentationFormat>
  <Paragraphs>214</Paragraphs>
  <Slides>15</Slides>
  <Notes>15</Notes>
  <HiddenSlides>0</HiddenSlides>
  <MMClips>0</MMClips>
  <ScaleCrop>false</ScaleCrop>
  <HeadingPairs>
    <vt:vector size="6" baseType="variant">
      <vt:variant>
        <vt:lpstr>Polices utilisées</vt:lpstr>
      </vt:variant>
      <vt:variant>
        <vt:i4>3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15</vt:i4>
      </vt:variant>
    </vt:vector>
  </HeadingPairs>
  <TitlesOfParts>
    <vt:vector size="19" baseType="lpstr">
      <vt:lpstr>Arial</vt:lpstr>
      <vt:lpstr>Calibri</vt:lpstr>
      <vt:lpstr>Courier New</vt:lpstr>
      <vt:lpstr>Office Theme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AfriTalent</dc:title>
  <dc:subject>PptxGenJS Presentation</dc:subject>
  <dc:creator>Ibrahima Top</dc:creator>
  <cp:lastModifiedBy>Ibrahima Top</cp:lastModifiedBy>
  <cp:revision>42</cp:revision>
  <dcterms:created xsi:type="dcterms:W3CDTF">2026-06-28T13:42:59Z</dcterms:created>
  <dcterms:modified xsi:type="dcterms:W3CDTF">2026-06-29T23:19:11Z</dcterms:modified>
</cp:coreProperties>
</file>